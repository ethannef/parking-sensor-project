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WSJF</c:v>
                </c:pt>
              </c:strCache>
            </c:strRef>
          </c:tx>
          <c:spPr>
            <a:solidFill>
              <a:srgbClr val="E9A7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AEEF6"/>
                    </a:solidFill>
                    <a:latin typeface="Cambr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 Board</c:v>
                  </c:pt>
                  <c:pt idx="1">
                    <c:v>C Crowd</c:v>
                  </c:pt>
                  <c:pt idx="2">
                    <c:v>A Ambient</c:v>
                  </c:pt>
                  <c:pt idx="3">
                    <c:v>P Forecast</c:v>
                  </c:pt>
                  <c:pt idx="4">
                    <c:v>D Sensing</c:v>
                  </c:pt>
                  <c:pt idx="5">
                    <c:v>S Signage</c:v>
                  </c:pt>
                  <c:pt idx="6">
                    <c:v>R Reserve</c:v>
                  </c:pt>
                  <c:pt idx="7">
                    <c:v>G Guidance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4.4</c:v>
                </c:pt>
                <c:pt idx="1">
                  <c:v>4.33</c:v>
                </c:pt>
                <c:pt idx="2">
                  <c:v>4</c:v>
                </c:pt>
                <c:pt idx="3">
                  <c:v>3.17</c:v>
                </c:pt>
                <c:pt idx="4">
                  <c:v>2.5</c:v>
                </c:pt>
                <c:pt idx="5">
                  <c:v>2</c:v>
                </c:pt>
                <c:pt idx="6">
                  <c:v>1.78</c:v>
                </c:pt>
                <c:pt idx="7">
                  <c:v>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AEEF6"/>
                  </a:solidFill>
                  <a:latin typeface="Cambr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7AE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2E3C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7AE"/>
                </a:solidFill>
                <a:latin typeface="Cambr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524"/>
        </a:solidFill>
        <a:ln>
          <a:noFill/>
        </a:ln>
        <a:effectLst/>
      </c:spPr>
    </c:plotArea>
    <c:plotVisOnly val="1"/>
    <c:dispBlanksAs val="span"/>
  </c:chart>
  <c:spPr>
    <a:solidFill>
      <a:srgbClr val="0E15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I diverged into many parking ideas, then used seven convergent tools to narrow toward one concept. This deck walks that path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slide for Oliver to complete with the final chosen concept, mixed and matched from the eight candidates.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457200"/>
            <a:ext cx="118872" cy="118872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8074152" y="457200"/>
            <a:ext cx="118872" cy="118872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8330184" y="457200"/>
            <a:ext cx="118872" cy="118872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THINKING  ·  CONVERGENCE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1600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Campus Parking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4C9F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blind circling to a clear signal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bank of parking ideas into one buildable concept, by way of seven convergent design lenses.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2926080" cy="0"/>
          </a:xfrm>
          <a:prstGeom prst="line">
            <a:avLst/>
          </a:prstGeom>
          <a:noFill/>
          <a:ln w="12700">
            <a:solidFill>
              <a:srgbClr val="2E3C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14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space, convergent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 by Oliver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REFRAME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problem, in one line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early arriver parks in two minutes.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Everyone else circles blind.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3054096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B9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07:45 to 08:00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" y="356616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clusters into a narrow morning peak, so lots fill almost together.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10712" y="288036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3054096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Zero visibility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356616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driver commits to a lot before knowing whether a single bay is free.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64224" y="288036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65392" y="3054096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9F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Scarce: information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65392" y="356616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thing in short supply is not space at every hour, it is knowing where the space is.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DIVERGE · FRAMING QUESTIONS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Might We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26464"/>
            <a:ext cx="118872" cy="118872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316736"/>
            <a:ext cx="3758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early arriver's two-minute experience available to everyone, whenever they arrive?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118872" cy="118872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1975104"/>
            <a:ext cx="3758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eliminate the blind circling between lots entirely?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18872" cy="118872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633472"/>
            <a:ext cx="3758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parking search the most informative part of a commute, not the most stressful?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118872" cy="118872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291840"/>
            <a:ext cx="3758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the need to drive onto campus before knowing where to park?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118872" cy="118872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950208"/>
            <a:ext cx="3758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search sighted instead of blind?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426464"/>
            <a:ext cx="118872" cy="118872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1316736"/>
            <a:ext cx="3758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cars already leaving campus as a live signal for cars arriving?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084832"/>
            <a:ext cx="118872" cy="118872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28616" y="1975104"/>
            <a:ext cx="3758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campus parking behave like an airport departures board?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743200"/>
            <a:ext cx="118872" cy="118872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23" name="Text 21"/>
          <p:cNvSpPr/>
          <p:nvPr/>
        </p:nvSpPr>
        <p:spPr>
          <a:xfrm>
            <a:off x="4928616" y="2633472"/>
            <a:ext cx="3758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finding parking into something drivers trust, rather than dread?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401568"/>
            <a:ext cx="118872" cy="118872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25" name="Text 23"/>
          <p:cNvSpPr/>
          <p:nvPr/>
        </p:nvSpPr>
        <p:spPr>
          <a:xfrm>
            <a:off x="4928616" y="3291840"/>
            <a:ext cx="3758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“first come, zero visibility” with a system drivers can plan around?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4059936"/>
            <a:ext cx="118872" cy="118872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27" name="Text 25"/>
          <p:cNvSpPr/>
          <p:nvPr/>
        </p:nvSpPr>
        <p:spPr>
          <a:xfrm>
            <a:off x="4928616" y="3950208"/>
            <a:ext cx="3758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occupancy information into a driver's hands before they choose a lot?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ANTI-PROBLEM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Worst possible ideas, on purpose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the good principles, I first asked what would make parking worse.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011680" cy="2606040"/>
          </a:xfrm>
          <a:prstGeom prst="roundRect">
            <a:avLst>
              <a:gd name="adj" fmla="val 4091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6A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Charge for lateness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later you arrive, the more you pay for the privilege of not finding a spot.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79192" y="1828800"/>
            <a:ext cx="2011680" cy="2606040"/>
          </a:xfrm>
          <a:prstGeom prst="roundRect">
            <a:avLst>
              <a:gd name="adj" fmla="val 4091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620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6A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62072" y="2514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 and punitive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62072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each student a parking code every morning. Guess wrong, get towed.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01184" y="1828800"/>
            <a:ext cx="2011680" cy="2606040"/>
          </a:xfrm>
          <a:prstGeom prst="roundRect">
            <a:avLst>
              <a:gd name="adj" fmla="val 4091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8406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6A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✕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84064" y="2514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daily auction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84064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every bay to the highest bidder, no fixed price, every single morning.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23176" y="1828800"/>
            <a:ext cx="2011680" cy="2606040"/>
          </a:xfrm>
          <a:prstGeom prst="roundRect">
            <a:avLst>
              <a:gd name="adj" fmla="val 4091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0605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6A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✕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06056" y="2514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Remove the car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06056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 cars entirely. Mandatory unicycle commute for all students.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 THE ANTI-PROBLEM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bad idea hides a good principle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063240" cy="640080"/>
          </a:xfrm>
          <a:prstGeom prst="roundRect">
            <a:avLst>
              <a:gd name="adj" fmla="val 12857"/>
            </a:avLst>
          </a:prstGeom>
          <a:solidFill>
            <a:srgbClr val="212E4E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14721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6A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Charge for lateness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14356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60520" y="1417320"/>
            <a:ext cx="4526280" cy="640080"/>
          </a:xfrm>
          <a:prstGeom prst="roundRect">
            <a:avLst>
              <a:gd name="adj" fmla="val 12857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61688" y="1472184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should be information, not money. Help everyone, whenever they arrive.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3063240" cy="640080"/>
          </a:xfrm>
          <a:prstGeom prst="roundRect">
            <a:avLst>
              <a:gd name="adj" fmla="val 12857"/>
            </a:avLst>
          </a:prstGeom>
          <a:solidFill>
            <a:srgbClr val="212E4E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22585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6A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 and punitive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22219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160520" y="2203704"/>
            <a:ext cx="4526280" cy="640080"/>
          </a:xfrm>
          <a:prstGeom prst="roundRect">
            <a:avLst>
              <a:gd name="adj" fmla="val 12857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61688" y="225856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and forgiving. No guessing, no gotchas.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90088"/>
            <a:ext cx="3063240" cy="640080"/>
          </a:xfrm>
          <a:prstGeom prst="roundRect">
            <a:avLst>
              <a:gd name="adj" fmla="val 12857"/>
            </a:avLst>
          </a:prstGeom>
          <a:solidFill>
            <a:srgbClr val="212E4E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30449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6A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daily auction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11880" y="300837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160520" y="2990088"/>
            <a:ext cx="4526280" cy="640080"/>
          </a:xfrm>
          <a:prstGeom prst="roundRect">
            <a:avLst>
              <a:gd name="adj" fmla="val 12857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61688" y="304495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access and transparency beat scarcity games.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776472"/>
            <a:ext cx="3063240" cy="640080"/>
          </a:xfrm>
          <a:prstGeom prst="roundRect">
            <a:avLst>
              <a:gd name="adj" fmla="val 12857"/>
            </a:avLst>
          </a:prstGeom>
          <a:solidFill>
            <a:srgbClr val="212E4E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" y="383133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6A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Remove the car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11880" y="37947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160520" y="3776472"/>
            <a:ext cx="4526280" cy="640080"/>
          </a:xfrm>
          <a:prstGeom prst="roundRect">
            <a:avLst>
              <a:gd name="adj" fmla="val 12857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61688" y="3831336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the need to drive around before knowing. Always offer a fallback.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· THE STRONG PULLS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directions the ideas kept pointing to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572768"/>
            <a:ext cx="182880" cy="182880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361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18745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Check the odds from home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" y="2487168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“06:52, Engineering lot 80% full.” The driver sees real odds before leaving. The cost becomes information.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10712" y="13716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11880" y="1572768"/>
            <a:ext cx="182880" cy="182880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15" name="Text 13"/>
          <p:cNvSpPr/>
          <p:nvPr/>
        </p:nvSpPr>
        <p:spPr>
          <a:xfrm>
            <a:off x="3593592" y="15361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18745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live departures board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1880" y="2487168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bays per lot, updated as cars enter and exit. An app, a campus screen, or a WhatsApp bot. No money changes hands.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64224" y="137160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65392" y="1572768"/>
            <a:ext cx="182880" cy="182880"/>
          </a:xfrm>
          <a:prstGeom prst="ellipse">
            <a:avLst/>
          </a:prstGeom>
          <a:solidFill>
            <a:srgbClr val="4C9FB0"/>
          </a:solidFill>
          <a:ln/>
        </p:spPr>
      </p:sp>
      <p:sp>
        <p:nvSpPr>
          <p:cNvPr id="20" name="Text 18"/>
          <p:cNvSpPr/>
          <p:nvPr/>
        </p:nvSpPr>
        <p:spPr>
          <a:xfrm>
            <a:off x="6547104" y="15361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65392" y="1874520"/>
            <a:ext cx="2295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park-and-ride fallback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65392" y="2487168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off-campus overflow lot with a shuttle, so a driver who misses a bay has an instant fallback. Carpool matching trims the peak.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16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87705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common thread:  </a:t>
            </a:r>
            <a:pPr indent="0" marL="0">
              <a:buNone/>
            </a:pPr>
            <a:r>
              <a:rPr lang="en-US" sz="13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occupancy visibility, delivered before or during the drive. Information first, low effort, high impact.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IDEA BANK, GROUPED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idea bank, grouped (1 of 2)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508760"/>
            <a:ext cx="365760" cy="365760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144475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Pre-departure forecast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703320" y="144475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check, night-before text, morning prediction, reliability score per lot, push alert when a lot crosses a likely-full line.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2295144"/>
            <a:ext cx="365760" cy="365760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223113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remote board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03320" y="223113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map with no login, app, WhatsApp bot, portal widget, message a lot name and get the current count back.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" y="3081528"/>
            <a:ext cx="365760" cy="365760"/>
          </a:xfrm>
          <a:prstGeom prst="ellipse">
            <a:avLst/>
          </a:prstGeom>
          <a:solidFill>
            <a:srgbClr val="4C9FB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01752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On-campus signage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703320" y="301752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screens with this lot plus the next two nearest, junction signs on a one-way loop, a main-gate master board, counters above each boom.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730752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" y="3867912"/>
            <a:ext cx="365760" cy="365760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380390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Ambient lot signals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703320" y="380390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Fuel-gauge colour lights at entrances, slow-flashing floor LEDs, all glanceable from a distance.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IDEA BANK, GROUPED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idea bank, grouped (2 of 2)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508760"/>
            <a:ext cx="365760" cy="365760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144475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Sensing backbone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703320" y="144475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Exit-boom counter, licence-plate recognition, overhead cameras, periodic peak photos, a live feed to security.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2295144"/>
            <a:ext cx="365760" cy="365760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223113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Crowdsourced departures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03320" y="223113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one-tap “my bay is free” broadcast, cars leaving read as the live signal, carpool matching.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" y="3081528"/>
            <a:ext cx="365760" cy="365760"/>
          </a:xfrm>
          <a:prstGeom prst="ellipse">
            <a:avLst/>
          </a:prstGeom>
          <a:solidFill>
            <a:srgbClr val="4C9FB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01752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Active guidance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703320" y="301752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turn-by-turn to the nearest open bay, a short-range radio broadcast at the gate, a valet or drop-off.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730752"/>
            <a:ext cx="8229600" cy="658368"/>
          </a:xfrm>
          <a:prstGeom prst="roundRect">
            <a:avLst>
              <a:gd name="adj" fmla="val 12500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" y="3867912"/>
            <a:ext cx="365760" cy="365760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380390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Reservation and demand shaping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703320" y="380390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 bay booking, tiered permits, staggered lecture starts, an overflow lot that auto-activates at capacity.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THE SCORECARD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Eight concepts, one scorecard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grouped the ideas loosely into eight candidate concepts. These codes carry through every lens that follows.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2496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Forecast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 before you leave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88336" y="1783080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71216" y="1965960"/>
            <a:ext cx="457200" cy="457200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16" name="Text 14"/>
          <p:cNvSpPr/>
          <p:nvPr/>
        </p:nvSpPr>
        <p:spPr>
          <a:xfrm>
            <a:off x="287121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871216" y="2496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71216" y="2743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open-bay counts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19472" y="1783080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02352" y="1965960"/>
            <a:ext cx="457200" cy="457200"/>
          </a:xfrm>
          <a:prstGeom prst="ellipse">
            <a:avLst/>
          </a:prstGeom>
          <a:solidFill>
            <a:srgbClr val="4C9FB0"/>
          </a:solidFill>
          <a:ln/>
        </p:spPr>
      </p:sp>
      <p:sp>
        <p:nvSpPr>
          <p:cNvPr id="21" name="Text 19"/>
          <p:cNvSpPr/>
          <p:nvPr/>
        </p:nvSpPr>
        <p:spPr>
          <a:xfrm>
            <a:off x="510235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02352" y="2496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Signage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02352" y="2743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direction on campus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50608" y="1783080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33488" y="1965960"/>
            <a:ext cx="457200" cy="457200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26" name="Text 24"/>
          <p:cNvSpPr/>
          <p:nvPr/>
        </p:nvSpPr>
        <p:spPr>
          <a:xfrm>
            <a:off x="733348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33488" y="2496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Ambient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33488" y="2743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Glanceable lot lights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236976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419856"/>
            <a:ext cx="457200" cy="457200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0080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Sensing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4197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 that feeds it all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688336" y="3236976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871216" y="3419856"/>
            <a:ext cx="457200" cy="457200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36" name="Text 34"/>
          <p:cNvSpPr/>
          <p:nvPr/>
        </p:nvSpPr>
        <p:spPr>
          <a:xfrm>
            <a:off x="2871216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871216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Crowd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871216" y="4197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Departures as a signal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19472" y="3236976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102352" y="3419856"/>
            <a:ext cx="457200" cy="457200"/>
          </a:xfrm>
          <a:prstGeom prst="ellipse">
            <a:avLst/>
          </a:prstGeom>
          <a:solidFill>
            <a:srgbClr val="4C9FB0"/>
          </a:solidFill>
          <a:ln/>
        </p:spPr>
      </p:sp>
      <p:sp>
        <p:nvSpPr>
          <p:cNvPr id="41" name="Text 39"/>
          <p:cNvSpPr/>
          <p:nvPr/>
        </p:nvSpPr>
        <p:spPr>
          <a:xfrm>
            <a:off x="5102352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102352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Guidance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02352" y="4197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Turn-by-turn to a bay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150608" y="3236976"/>
            <a:ext cx="2011680" cy="1234440"/>
          </a:xfrm>
          <a:prstGeom prst="roundRect">
            <a:avLst>
              <a:gd name="adj" fmla="val 6667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33488" y="3419856"/>
            <a:ext cx="457200" cy="457200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46" name="Text 44"/>
          <p:cNvSpPr/>
          <p:nvPr/>
        </p:nvSpPr>
        <p:spPr>
          <a:xfrm>
            <a:off x="7333488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333488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Reserve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333488" y="4197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and demand shaping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Seven convergent lenses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24328" cy="960120"/>
          </a:xfrm>
          <a:prstGeom prst="roundRect">
            <a:avLst>
              <a:gd name="adj" fmla="val 8571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481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70078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Impact-Effort Matrix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" y="1956816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each concept sit on payoff versus cost?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00984" y="1371600"/>
            <a:ext cx="2624328" cy="960120"/>
          </a:xfrm>
          <a:prstGeom prst="roundRect">
            <a:avLst>
              <a:gd name="adj" fmla="val 8571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65576" y="1481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65576" y="170078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How-Now-Wow Matrix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65576" y="1956816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are easy wins, which are original bets?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44768" y="1371600"/>
            <a:ext cx="2624328" cy="960120"/>
          </a:xfrm>
          <a:prstGeom prst="roundRect">
            <a:avLst>
              <a:gd name="adj" fmla="val 8571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1481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70078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Weighted Scoring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09360" y="1956816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every concept against weighted criteria.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551176"/>
            <a:ext cx="2624328" cy="960120"/>
          </a:xfrm>
          <a:prstGeom prst="roundRect">
            <a:avLst>
              <a:gd name="adj" fmla="val 8571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" y="2660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" y="28803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WSJF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1792" y="3136392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by value over job size, cheapest value first.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00984" y="2551176"/>
            <a:ext cx="2624328" cy="960120"/>
          </a:xfrm>
          <a:prstGeom prst="roundRect">
            <a:avLst>
              <a:gd name="adj" fmla="val 8571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65576" y="2660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65576" y="28803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SWOT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465576" y="3136392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 the front-runner from four angles.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4768" y="2551176"/>
            <a:ext cx="2624328" cy="960120"/>
          </a:xfrm>
          <a:prstGeom prst="roundRect">
            <a:avLst>
              <a:gd name="adj" fmla="val 8571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9360" y="2660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28803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 Thinking Hats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09360" y="3136392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lead concept from six mindsets.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730752"/>
            <a:ext cx="2624328" cy="960120"/>
          </a:xfrm>
          <a:prstGeom prst="roundRect">
            <a:avLst>
              <a:gd name="adj" fmla="val 8571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1792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" y="4059936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21792" y="4315968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the driver's path to the right build scope.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1 · IMPACT-EFFORT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Impact-Effort Matrix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" y="1371600"/>
            <a:ext cx="3520440" cy="144018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371600"/>
            <a:ext cx="3520440" cy="1440180"/>
          </a:xfrm>
          <a:prstGeom prst="rect">
            <a:avLst/>
          </a:prstGeom>
          <a:solidFill>
            <a:srgbClr val="12203E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2811780"/>
            <a:ext cx="3520440" cy="1440180"/>
          </a:xfrm>
          <a:prstGeom prst="rect">
            <a:avLst/>
          </a:prstGeom>
          <a:solidFill>
            <a:srgbClr val="111A3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811780"/>
            <a:ext cx="3520440" cy="144018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371600"/>
            <a:ext cx="0" cy="2880360"/>
          </a:xfrm>
          <a:prstGeom prst="line">
            <a:avLst/>
          </a:prstGeom>
          <a:noFill/>
          <a:ln w="12700">
            <a:solidFill>
              <a:srgbClr val="2E3C5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051560" y="2811780"/>
            <a:ext cx="7040880" cy="0"/>
          </a:xfrm>
          <a:prstGeom prst="line">
            <a:avLst/>
          </a:prstGeom>
          <a:noFill/>
          <a:ln w="12700">
            <a:solidFill>
              <a:srgbClr val="2E3C5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51560" y="1371600"/>
            <a:ext cx="7040880" cy="2880360"/>
          </a:xfrm>
          <a:prstGeom prst="rect">
            <a:avLst/>
          </a:prstGeom>
          <a:ln w="12700">
            <a:solidFill>
              <a:srgbClr val="2E3C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1444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B9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Quick wins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444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Big bets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9227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97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Fill-ins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9227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6A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 slogs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36168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to build  (low  →  high)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 rot="16200000">
            <a:off x="91440" y="26746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 (low → high)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89400" y="1600200"/>
            <a:ext cx="182880" cy="182880"/>
          </a:xfrm>
          <a:prstGeom prst="ellipse">
            <a:avLst/>
          </a:prstGeom>
          <a:solidFill>
            <a:srgbClr val="E9A73C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89400" y="15910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27144" y="15819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71720" y="1920240"/>
            <a:ext cx="182880" cy="182880"/>
          </a:xfrm>
          <a:prstGeom prst="ellipse">
            <a:avLst/>
          </a:prstGeom>
          <a:solidFill>
            <a:srgbClr val="5FB98B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1720" y="19110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09464" y="19019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36360" y="2240280"/>
            <a:ext cx="182880" cy="182880"/>
          </a:xfrm>
          <a:prstGeom prst="ellipse">
            <a:avLst/>
          </a:prstGeom>
          <a:solidFill>
            <a:srgbClr val="D46A5B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6360" y="2231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4104" y="2221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18680" y="2240280"/>
            <a:ext cx="182880" cy="182880"/>
          </a:xfrm>
          <a:prstGeom prst="ellipse">
            <a:avLst/>
          </a:prstGeom>
          <a:solidFill>
            <a:srgbClr val="5FB98B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18680" y="2231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23736" y="2221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54040" y="2560320"/>
            <a:ext cx="182880" cy="182880"/>
          </a:xfrm>
          <a:prstGeom prst="ellipse">
            <a:avLst/>
          </a:prstGeom>
          <a:solidFill>
            <a:srgbClr val="4C9FB0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4040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91784" y="25420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Signage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36360" y="2560320"/>
            <a:ext cx="182880" cy="182880"/>
          </a:xfrm>
          <a:prstGeom prst="ellipse">
            <a:avLst/>
          </a:prstGeom>
          <a:solidFill>
            <a:srgbClr val="4C9FB0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6360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4104" y="25420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Guidance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24760" y="2880360"/>
            <a:ext cx="182880" cy="182880"/>
          </a:xfrm>
          <a:prstGeom prst="ellipse">
            <a:avLst/>
          </a:prstGeom>
          <a:solidFill>
            <a:srgbClr val="5FB98B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24760" y="2871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62504" y="28620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07080" y="2880360"/>
            <a:ext cx="182880" cy="182880"/>
          </a:xfrm>
          <a:prstGeom prst="ellipse">
            <a:avLst/>
          </a:prstGeom>
          <a:solidFill>
            <a:srgbClr val="E9A73C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07080" y="2871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44824" y="28620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Forecast  ·  B Live board  ·  S Signage  ·  A Ambient  ·  D Sensing  ·  C Crowd  ·  G Guidance  ·  R Reserve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2 · HOW-NOW-WOW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How-Now-Wow Matrix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" y="1371600"/>
            <a:ext cx="3520440" cy="144018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371600"/>
            <a:ext cx="3520440" cy="1440180"/>
          </a:xfrm>
          <a:prstGeom prst="rect">
            <a:avLst/>
          </a:prstGeom>
          <a:solidFill>
            <a:srgbClr val="12203E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2811780"/>
            <a:ext cx="3520440" cy="1440180"/>
          </a:xfrm>
          <a:prstGeom prst="rect">
            <a:avLst/>
          </a:prstGeom>
          <a:solidFill>
            <a:srgbClr val="111A3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811780"/>
            <a:ext cx="3520440" cy="144018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371600"/>
            <a:ext cx="0" cy="2880360"/>
          </a:xfrm>
          <a:prstGeom prst="line">
            <a:avLst/>
          </a:prstGeom>
          <a:noFill/>
          <a:ln w="12700">
            <a:solidFill>
              <a:srgbClr val="2E3C5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051560" y="2811780"/>
            <a:ext cx="7040880" cy="0"/>
          </a:xfrm>
          <a:prstGeom prst="line">
            <a:avLst/>
          </a:prstGeom>
          <a:noFill/>
          <a:ln w="12700">
            <a:solidFill>
              <a:srgbClr val="2E3C5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51560" y="1371600"/>
            <a:ext cx="7040880" cy="2880360"/>
          </a:xfrm>
          <a:prstGeom prst="rect">
            <a:avLst/>
          </a:prstGeom>
          <a:ln w="12700">
            <a:solidFill>
              <a:srgbClr val="2E3C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1444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B9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444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9227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97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park / avoid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9227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9F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36168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Originality  (normal  →  original)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 rot="16200000">
            <a:off x="91440" y="26746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Ease  (hard → easy)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24760" y="1600200"/>
            <a:ext cx="182880" cy="182880"/>
          </a:xfrm>
          <a:prstGeom prst="ellipse">
            <a:avLst/>
          </a:prstGeom>
          <a:solidFill>
            <a:srgbClr val="5FB98B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4760" y="15910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62504" y="15819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89400" y="1920240"/>
            <a:ext cx="182880" cy="182880"/>
          </a:xfrm>
          <a:prstGeom prst="ellipse">
            <a:avLst/>
          </a:prstGeom>
          <a:solidFill>
            <a:srgbClr val="E9A73C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89400" y="19110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27144" y="19019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54040" y="2240280"/>
            <a:ext cx="182880" cy="182880"/>
          </a:xfrm>
          <a:prstGeom prst="ellipse">
            <a:avLst/>
          </a:prstGeom>
          <a:solidFill>
            <a:srgbClr val="E9A73C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4040" y="2231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91784" y="2221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24760" y="2880360"/>
            <a:ext cx="182880" cy="182880"/>
          </a:xfrm>
          <a:prstGeom prst="ellipse">
            <a:avLst/>
          </a:prstGeom>
          <a:solidFill>
            <a:srgbClr val="4C9FB0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4760" y="2871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62504" y="28620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36360" y="2880360"/>
            <a:ext cx="182880" cy="182880"/>
          </a:xfrm>
          <a:prstGeom prst="ellipse">
            <a:avLst/>
          </a:prstGeom>
          <a:solidFill>
            <a:srgbClr val="5FB98B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36360" y="2871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4104" y="28620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089400" y="3520440"/>
            <a:ext cx="182880" cy="182880"/>
          </a:xfrm>
          <a:prstGeom prst="ellipse">
            <a:avLst/>
          </a:prstGeom>
          <a:solidFill>
            <a:srgbClr val="D46A5B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89400" y="35112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27144" y="35021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71720" y="3840480"/>
            <a:ext cx="182880" cy="182880"/>
          </a:xfrm>
          <a:prstGeom prst="ellipse">
            <a:avLst/>
          </a:prstGeom>
          <a:solidFill>
            <a:srgbClr val="5FB98B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1720" y="3831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09464" y="38221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36360" y="3840480"/>
            <a:ext cx="182880" cy="182880"/>
          </a:xfrm>
          <a:prstGeom prst="ellipse">
            <a:avLst/>
          </a:prstGeom>
          <a:solidFill>
            <a:srgbClr val="4C9FB0"/>
          </a:solidFill>
          <a:ln w="12700">
            <a:solidFill>
              <a:srgbClr val="0E15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6360" y="3831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5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4104" y="38221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Guidance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Forecast  ·  B Live board  ·  S Signage  ·  A Ambient  ·  D Sensing  ·  C Crowd  ·  G Guidance  ·  R Reserve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3 · WEIGHTED SCORING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Decision Matrix, weighted scoring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43000"/>
                <a:gridCol w="960120"/>
                <a:gridCol w="960120"/>
                <a:gridCol w="960120"/>
                <a:gridCol w="96012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Concept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E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Impact .30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E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Feas .25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E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Speed .15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E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Scale .15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E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Trust .15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E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9A7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E4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  Live board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9A7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 Ambient lights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  Forecast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  Crowdsourced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  Sensing backbone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  Signage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  Reserve / demand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  Guidance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7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EEF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C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board</a:t>
            </a:r>
            <a:pPr indent="0" marL="0"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leads on raw benefit, feasibility, and trust. </a:t>
            </a:r>
            <a:pPr indent="0" marL="0">
              <a:buNone/>
            </a:pPr>
            <a:r>
              <a:rPr lang="en-US" sz="1200" b="1" dirty="0">
                <a:solidFill>
                  <a:srgbClr val="5FB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lights</a:t>
            </a:r>
            <a:pPr indent="0" marL="0"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follow as the cheapest, fastest win.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4 · WSJF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Weighted Shortest Job First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WSJF  =  (User value  +  Time criticality  +  Risk reduction)  /  Job size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783080"/>
          <a:ext cx="57607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46520" y="1783080"/>
            <a:ext cx="2240280" cy="3063240"/>
          </a:xfrm>
          <a:prstGeom prst="roundRect">
            <a:avLst>
              <a:gd name="adj" fmla="val 3673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2940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reordering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2940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value by job size lifts the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FB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items.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 and Ambient jump ahead of larger concepts.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 still tops the list, so it earns the pilot.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5 · SWOT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SWOT: the live board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591056"/>
            <a:ext cx="128016" cy="128016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1490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B98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1828800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before or at the gate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Checkable from home, no cost to the driver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display layer over existing channels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Directly kills the blind circle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591056"/>
            <a:ext cx="128016" cy="128016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14" name="Text 12"/>
          <p:cNvSpPr/>
          <p:nvPr/>
        </p:nvSpPr>
        <p:spPr>
          <a:xfrm>
            <a:off x="5084064" y="1490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6A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9472" y="1828800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as good as the underlying count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 sensing backbone first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strains at peak churn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driver still has to check 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236976"/>
            <a:ext cx="128016" cy="128016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31363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Opportunities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3474720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prediction on top later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a park-and-ride fallback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in the timetable app students use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data for planning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3236976"/>
            <a:ext cx="128016" cy="128016"/>
          </a:xfrm>
          <a:prstGeom prst="ellipse">
            <a:avLst/>
          </a:prstGeom>
          <a:solidFill>
            <a:srgbClr val="4C9FB0"/>
          </a:solidFill>
          <a:ln/>
        </p:spPr>
      </p:sp>
      <p:sp>
        <p:nvSpPr>
          <p:cNvPr id="22" name="Text 20"/>
          <p:cNvSpPr/>
          <p:nvPr/>
        </p:nvSpPr>
        <p:spPr>
          <a:xfrm>
            <a:off x="5084064" y="31363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F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Threats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19472" y="3474720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bad reading erodes trust fast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adoption if not where students look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concern with cameras or plates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Unclear campus IT ownership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6 · SIX THINKING HATS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 Thinking Hats: the live board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79192" cy="1481328"/>
          </a:xfrm>
          <a:prstGeom prst="roundRect">
            <a:avLst>
              <a:gd name="adj" fmla="val 5556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554480"/>
            <a:ext cx="274320" cy="274320"/>
          </a:xfrm>
          <a:prstGeom prst="ellipse">
            <a:avLst/>
          </a:prstGeom>
          <a:solidFill>
            <a:srgbClr val="F2F4F8"/>
          </a:solidFill>
          <a:ln w="12700">
            <a:solidFill>
              <a:srgbClr val="2E3C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3619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White hat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matters is lot-level status, not which bay. The count depends on entry and exit sensing.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82696" y="1371600"/>
            <a:ext cx="2679192" cy="1481328"/>
          </a:xfrm>
          <a:prstGeom prst="roundRect">
            <a:avLst>
              <a:gd name="adj" fmla="val 5556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5576" y="1554480"/>
            <a:ext cx="274320" cy="274320"/>
          </a:xfrm>
          <a:prstGeom prst="ellipse">
            <a:avLst/>
          </a:prstGeom>
          <a:solidFill>
            <a:srgbClr val="D46A5B"/>
          </a:solidFill>
          <a:ln w="12700">
            <a:solidFill>
              <a:srgbClr val="2E3C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1336" y="153619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 hat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65576" y="187452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65576" y="210312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Drivers dread the blind circle. A trusted board turns dread into calm.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08192" y="1371600"/>
            <a:ext cx="2679192" cy="1481328"/>
          </a:xfrm>
          <a:prstGeom prst="roundRect">
            <a:avLst>
              <a:gd name="adj" fmla="val 5556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1554480"/>
            <a:ext cx="274320" cy="274320"/>
          </a:xfrm>
          <a:prstGeom prst="ellipse">
            <a:avLst/>
          </a:prstGeom>
          <a:solidFill>
            <a:srgbClr val="39445E"/>
          </a:solidFill>
          <a:ln w="12700">
            <a:solidFill>
              <a:srgbClr val="2E3C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153619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Black hat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91072" y="187452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91072" y="210312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wrong reading destroys trust. Stale data during rapid churn is the real risk.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2679192" cy="1481328"/>
          </a:xfrm>
          <a:prstGeom prst="roundRect">
            <a:avLst>
              <a:gd name="adj" fmla="val 5556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00400"/>
            <a:ext cx="274320" cy="274320"/>
          </a:xfrm>
          <a:prstGeom prst="ellipse">
            <a:avLst/>
          </a:prstGeom>
          <a:solidFill>
            <a:srgbClr val="E9A73C"/>
          </a:solidFill>
          <a:ln w="12700">
            <a:solidFill>
              <a:srgbClr val="2E3C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18211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Yellow hat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352044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37490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cheap display layer buys a planable commute, and the data is reusable.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82696" y="3017520"/>
            <a:ext cx="2679192" cy="1481328"/>
          </a:xfrm>
          <a:prstGeom prst="roundRect">
            <a:avLst>
              <a:gd name="adj" fmla="val 5556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65576" y="3200400"/>
            <a:ext cx="274320" cy="274320"/>
          </a:xfrm>
          <a:prstGeom prst="ellipse">
            <a:avLst/>
          </a:prstGeom>
          <a:solidFill>
            <a:srgbClr val="5FB98B"/>
          </a:solidFill>
          <a:ln w="12700">
            <a:solidFill>
              <a:srgbClr val="2E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31336" y="318211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Green hat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465576" y="352044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65576" y="37490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no-login map, a WhatsApp bot, colour-coded confidence, a fallback when a lot is full.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08192" y="3017520"/>
            <a:ext cx="2679192" cy="1481328"/>
          </a:xfrm>
          <a:prstGeom prst="roundRect">
            <a:avLst>
              <a:gd name="adj" fmla="val 5556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91072" y="3200400"/>
            <a:ext cx="274320" cy="274320"/>
          </a:xfrm>
          <a:prstGeom prst="ellipse">
            <a:avLst/>
          </a:prstGeom>
          <a:solidFill>
            <a:srgbClr val="4C9FB0"/>
          </a:solidFill>
          <a:ln w="12700">
            <a:solidFill>
              <a:srgbClr val="2E3C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318211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Blue hat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291072" y="352044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91072" y="37490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one lot, prove the count is accurate, then scale. Decide the sensing method first.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7 · DECISION TREE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Decision tree: how early does the signal reach the driver?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212E4E"/>
          </a:solidFill>
          <a:ln w="12700">
            <a:solidFill>
              <a:srgbClr val="2E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1353312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driver heads to campus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1A2540"/>
          </a:solidFill>
          <a:ln w="12700">
            <a:solidFill>
              <a:srgbClr val="2E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2148840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they know lot status before leaving?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1A2540"/>
          </a:solidFill>
          <a:ln w="12700">
            <a:solidFill>
              <a:srgbClr val="2E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2944368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live board reachable on the phone?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12464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1A2540"/>
          </a:solidFill>
          <a:ln w="12700">
            <a:solidFill>
              <a:srgbClr val="2E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739896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signal on approach: signage or lights?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2121408"/>
            <a:ext cx="3383280" cy="566928"/>
          </a:xfrm>
          <a:prstGeom prst="roundRect">
            <a:avLst>
              <a:gd name="adj" fmla="val 11290"/>
            </a:avLst>
          </a:prstGeom>
          <a:solidFill>
            <a:srgbClr val="13301F"/>
          </a:solidFill>
          <a:ln w="12700">
            <a:solidFill>
              <a:srgbClr val="2E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30368" y="2148840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B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lot with a free bay, from home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916936"/>
            <a:ext cx="3383280" cy="566928"/>
          </a:xfrm>
          <a:prstGeom prst="roundRect">
            <a:avLst>
              <a:gd name="adj" fmla="val 11290"/>
            </a:avLst>
          </a:prstGeom>
          <a:solidFill>
            <a:srgbClr val="13301F"/>
          </a:solidFill>
          <a:ln w="12700">
            <a:solidFill>
              <a:srgbClr val="2E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30368" y="2944368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B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board, then choose the lot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3712464"/>
            <a:ext cx="3383280" cy="566928"/>
          </a:xfrm>
          <a:prstGeom prst="roundRect">
            <a:avLst>
              <a:gd name="adj" fmla="val 11290"/>
            </a:avLst>
          </a:prstGeom>
          <a:solidFill>
            <a:srgbClr val="3A2E14"/>
          </a:solidFill>
          <a:ln w="12700">
            <a:solidFill>
              <a:srgbClr val="2E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30368" y="3739896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signs or lights to the nearest open lot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4370832"/>
            <a:ext cx="3383280" cy="512064"/>
          </a:xfrm>
          <a:prstGeom prst="roundRect">
            <a:avLst>
              <a:gd name="adj" fmla="val 12500"/>
            </a:avLst>
          </a:prstGeom>
          <a:solidFill>
            <a:srgbClr val="331A17"/>
          </a:solidFill>
          <a:ln w="12700">
            <a:solidFill>
              <a:srgbClr val="2E3C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30368" y="439826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D46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circling: the state to design out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40280" y="1892808"/>
            <a:ext cx="0" cy="228600"/>
          </a:xfrm>
          <a:prstGeom prst="line">
            <a:avLst/>
          </a:prstGeom>
          <a:noFill/>
          <a:ln w="15875">
            <a:solidFill>
              <a:srgbClr val="8B97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0280" y="2688336"/>
            <a:ext cx="0" cy="228600"/>
          </a:xfrm>
          <a:prstGeom prst="line">
            <a:avLst/>
          </a:prstGeom>
          <a:noFill/>
          <a:ln w="15875">
            <a:solidFill>
              <a:srgbClr val="8B97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483864"/>
            <a:ext cx="0" cy="228600"/>
          </a:xfrm>
          <a:prstGeom prst="line">
            <a:avLst/>
          </a:prstGeom>
          <a:noFill/>
          <a:ln w="15875">
            <a:solidFill>
              <a:srgbClr val="8B97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4279392"/>
            <a:ext cx="0" cy="91440"/>
          </a:xfrm>
          <a:prstGeom prst="line">
            <a:avLst/>
          </a:prstGeom>
          <a:noFill/>
          <a:ln w="15875">
            <a:solidFill>
              <a:srgbClr val="8B97A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2404872"/>
            <a:ext cx="1280160" cy="0"/>
          </a:xfrm>
          <a:prstGeom prst="line">
            <a:avLst/>
          </a:prstGeom>
          <a:noFill/>
          <a:ln w="15875">
            <a:solidFill>
              <a:srgbClr val="8B97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0" y="3200400"/>
            <a:ext cx="1280160" cy="0"/>
          </a:xfrm>
          <a:prstGeom prst="line">
            <a:avLst/>
          </a:prstGeom>
          <a:noFill/>
          <a:ln w="15875">
            <a:solidFill>
              <a:srgbClr val="8B97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3995928"/>
            <a:ext cx="1280160" cy="0"/>
          </a:xfrm>
          <a:prstGeom prst="line">
            <a:avLst/>
          </a:prstGeom>
          <a:noFill/>
          <a:ln w="15875">
            <a:solidFill>
              <a:srgbClr val="8B97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58768" y="2212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B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58768" y="3008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B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58768" y="38039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73352" y="26974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73352" y="34930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73352" y="4160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6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0" y="1325880"/>
            <a:ext cx="3383280" cy="566928"/>
          </a:xfrm>
          <a:prstGeom prst="roundRect">
            <a:avLst>
              <a:gd name="adj" fmla="val 14516"/>
            </a:avLst>
          </a:prstGeom>
          <a:solidFill>
            <a:srgbClr val="16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257800" y="13258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9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Fallback:  </a:t>
            </a:r>
            <a:pPr algn="ctr" indent="0" marL="0">
              <a:buNone/>
            </a:pPr>
            <a:r>
              <a:rPr lang="en-US" sz="1100" dirty="0">
                <a:solidFill>
                  <a:srgbClr val="EA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lot full  →  park-and-ride shuttle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0584" cy="10058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329184"/>
            <a:ext cx="100584" cy="10058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329184"/>
            <a:ext cx="100584" cy="10058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743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21040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 seven lenses converge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5625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673352"/>
            <a:ext cx="146304" cy="146304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63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board is the lead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6656" y="1984248"/>
            <a:ext cx="3584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weighted score and WSJF, sitting on the quick-wins and WOW edge. This earns the pilot.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5625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673352"/>
            <a:ext cx="146304" cy="146304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5636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Ambient and crowd go first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882896" y="1984248"/>
            <a:ext cx="3584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Cheapest, fastest moves. WSJF sequences them early as a low-risk layer while the board is built.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44952"/>
            <a:ext cx="4023360" cy="1463040"/>
          </a:xfrm>
          <a:prstGeom prst="roundRect">
            <a:avLst>
              <a:gd name="adj" fmla="val 5625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300984"/>
            <a:ext cx="146304" cy="146304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1912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Sensing is the enabler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76656" y="3611880"/>
            <a:ext cx="3584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information concept depends on the count. The sensing method is the first decision to lock.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044952"/>
            <a:ext cx="4023360" cy="1463040"/>
          </a:xfrm>
          <a:prstGeom prst="roundRect">
            <a:avLst>
              <a:gd name="adj" fmla="val 5625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3300984"/>
            <a:ext cx="146304" cy="146304"/>
          </a:xfrm>
          <a:prstGeom prst="ellipse">
            <a:avLst/>
          </a:prstGeom>
          <a:solidFill>
            <a:srgbClr val="4C9FB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31912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Park-and-ride is the big bet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882896" y="3611880"/>
            <a:ext cx="3584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impact but heavy. Keep it as the fallback play, not the opening move. Guidance can wait.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" cy="128016"/>
          </a:xfrm>
          <a:prstGeom prst="ellipse">
            <a:avLst/>
          </a:prstGeom>
          <a:solidFill>
            <a:srgbClr val="5FB98B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" y="502920"/>
            <a:ext cx="128016" cy="128016"/>
          </a:xfrm>
          <a:prstGeom prst="ellipse">
            <a:avLst/>
          </a:prstGeom>
          <a:solidFill>
            <a:srgbClr val="E9A73C"/>
          </a:solidFill>
          <a:ln/>
        </p:spPr>
      </p:sp>
      <p:sp>
        <p:nvSpPr>
          <p:cNvPr id="4" name="Shape 2"/>
          <p:cNvSpPr/>
          <p:nvPr/>
        </p:nvSpPr>
        <p:spPr>
          <a:xfrm>
            <a:off x="1152144" y="502920"/>
            <a:ext cx="128016" cy="128016"/>
          </a:xfrm>
          <a:prstGeom prst="ellipse">
            <a:avLst/>
          </a:prstGeom>
          <a:solidFill>
            <a:srgbClr val="D46A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E9A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1463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EE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My conclusion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will write the chosen, mixed-and-matched concept here.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697480" cy="1508760"/>
          </a:xfrm>
          <a:prstGeom prst="roundRect">
            <a:avLst>
              <a:gd name="adj" fmla="val 5455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304495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concept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3447288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line: what I am building and for whom.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10712" y="2880360"/>
            <a:ext cx="2697480" cy="1508760"/>
          </a:xfrm>
          <a:prstGeom prst="roundRect">
            <a:avLst>
              <a:gd name="adj" fmla="val 5455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304495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it wins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447288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lenses that back it, in a sentence.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64224" y="2880360"/>
            <a:ext cx="2697480" cy="1508760"/>
          </a:xfrm>
          <a:prstGeom prst="roundRect">
            <a:avLst>
              <a:gd name="adj" fmla="val 5455"/>
            </a:avLst>
          </a:prstGeom>
          <a:solidFill>
            <a:srgbClr val="1A2540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304495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First prototype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65392" y="3447288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smallest version I can test on campus.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Parking: Convergence</dc:title>
  <dc:subject>PptxGenJS Presentation</dc:subject>
  <dc:creator>Oliver</dc:creator>
  <cp:lastModifiedBy>Oliver</cp:lastModifiedBy>
  <cp:revision>1</cp:revision>
  <dcterms:created xsi:type="dcterms:W3CDTF">2026-07-07T10:22:14Z</dcterms:created>
  <dcterms:modified xsi:type="dcterms:W3CDTF">2026-07-07T10:22:14Z</dcterms:modified>
</cp:coreProperties>
</file>