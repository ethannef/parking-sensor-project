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libri (MS) Bold" charset="1" panose="020F0702030404030204"/>
      <p:regular r:id="rId29"/>
    </p:embeddedFont>
    <p:embeddedFont>
      <p:font typeface="Calibri (MS)" charset="1" panose="020F050202020403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00000">
            <a:off x="12788903" y="-9270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09" cy="12225909"/>
            </a:xfrm>
            <a:custGeom>
              <a:avLst/>
              <a:gdLst/>
              <a:ahLst/>
              <a:cxnLst/>
              <a:rect r="r" b="b" t="t" l="l"/>
              <a:pathLst>
                <a:path h="12225909" w="12225909">
                  <a:moveTo>
                    <a:pt x="0" y="0"/>
                  </a:moveTo>
                  <a:lnTo>
                    <a:pt x="12225909" y="0"/>
                  </a:lnTo>
                  <a:lnTo>
                    <a:pt x="12225909" y="12225909"/>
                  </a:lnTo>
                  <a:lnTo>
                    <a:pt x="0" y="12225909"/>
                  </a:lnTo>
                  <a:close/>
                </a:path>
              </a:pathLst>
            </a:custGeom>
            <a:solidFill>
              <a:srgbClr val="2B2B2B">
                <a:alpha val="3019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480000">
            <a:off x="15532103" y="5473703"/>
            <a:ext cx="6426203" cy="6426203"/>
            <a:chOff x="0" y="0"/>
            <a:chExt cx="8568271" cy="8568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8568309"/>
                  </a:lnTo>
                  <a:lnTo>
                    <a:pt x="0" y="8568309"/>
                  </a:lnTo>
                  <a:close/>
                </a:path>
              </a:pathLst>
            </a:custGeom>
            <a:solidFill>
              <a:srgbClr val="5A5A5A">
                <a:alpha val="12157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10263" y="1633223"/>
            <a:ext cx="116843" cy="6426203"/>
            <a:chOff x="0" y="0"/>
            <a:chExt cx="155791" cy="8568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829" cy="8568309"/>
            </a:xfrm>
            <a:custGeom>
              <a:avLst/>
              <a:gdLst/>
              <a:ahLst/>
              <a:cxnLst/>
              <a:rect r="r" b="b" t="t" l="l"/>
              <a:pathLst>
                <a:path h="8568309" w="155829">
                  <a:moveTo>
                    <a:pt x="0" y="0"/>
                  </a:moveTo>
                  <a:lnTo>
                    <a:pt x="155829" y="0"/>
                  </a:lnTo>
                  <a:lnTo>
                    <a:pt x="155829" y="8568309"/>
                  </a:lnTo>
                  <a:lnTo>
                    <a:pt x="0" y="85683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97280" y="1301115"/>
            <a:ext cx="11887200" cy="473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PARKING</a:t>
            </a:r>
          </a:p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SENSOR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7280" y="6217920"/>
            <a:ext cx="11887200" cy="914400"/>
            <a:chOff x="0" y="0"/>
            <a:chExt cx="158496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5849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 Report &amp; Design Thinking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8778240"/>
            <a:ext cx="11887200" cy="731520"/>
            <a:chOff x="0" y="0"/>
            <a:chExt cx="158496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9600" cy="975360"/>
            </a:xfrm>
            <a:custGeom>
              <a:avLst/>
              <a:gdLst/>
              <a:ahLst/>
              <a:cxnLst/>
              <a:rect r="r" b="b" t="t" l="l"/>
              <a:pathLst>
                <a:path h="97536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849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University of the Witwatersrand  | 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71323"/>
            <a:chOff x="0" y="0"/>
            <a:chExt cx="24417871" cy="2228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28469"/>
            </a:xfrm>
            <a:custGeom>
              <a:avLst/>
              <a:gdLst/>
              <a:ahLst/>
              <a:cxnLst/>
              <a:rect r="r" b="b" t="t" l="l"/>
              <a:pathLst>
                <a:path h="22284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"/>
            <a:ext cx="16459200" cy="1280160"/>
            <a:chOff x="0" y="0"/>
            <a:chExt cx="2194560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811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1703" y="2181863"/>
            <a:ext cx="8255003" cy="2768603"/>
            <a:chOff x="0" y="0"/>
            <a:chExt cx="11006671" cy="3691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06709" cy="3691509"/>
            </a:xfrm>
            <a:custGeom>
              <a:avLst/>
              <a:gdLst/>
              <a:ahLst/>
              <a:cxnLst/>
              <a:rect r="r" b="b" t="t" l="l"/>
              <a:pathLst>
                <a:path h="3691509" w="1100670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809859" y="0"/>
                  </a:lnTo>
                  <a:cubicBezTo>
                    <a:pt x="10918571" y="0"/>
                    <a:pt x="11006709" y="88138"/>
                    <a:pt x="11006709" y="196850"/>
                  </a:cubicBezTo>
                  <a:lnTo>
                    <a:pt x="11006709" y="3494659"/>
                  </a:lnTo>
                  <a:cubicBezTo>
                    <a:pt x="11006709" y="3603371"/>
                    <a:pt x="10918571" y="3691509"/>
                    <a:pt x="1080985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3584" y="2468880"/>
            <a:ext cx="1280160" cy="1005840"/>
            <a:chOff x="0" y="0"/>
            <a:chExt cx="170688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09" t="0" r="-5080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7068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3584" y="3291840"/>
            <a:ext cx="7315200" cy="822960"/>
            <a:chOff x="0" y="0"/>
            <a:chExt cx="97536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9753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Solutions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3584" y="4059936"/>
            <a:ext cx="7315200" cy="640080"/>
            <a:chOff x="0" y="0"/>
            <a:chExt cx="97536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Detection · Data · Collection · Presentation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79943" y="2181863"/>
            <a:ext cx="8255003" cy="2768603"/>
            <a:chOff x="0" y="0"/>
            <a:chExt cx="11006671" cy="36914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709" cy="3691509"/>
            </a:xfrm>
            <a:custGeom>
              <a:avLst/>
              <a:gdLst/>
              <a:ahLst/>
              <a:cxnLst/>
              <a:rect r="r" b="b" t="t" l="l"/>
              <a:pathLst>
                <a:path h="3691509" w="1100670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809859" y="0"/>
                  </a:lnTo>
                  <a:cubicBezTo>
                    <a:pt x="10918571" y="0"/>
                    <a:pt x="11006709" y="88138"/>
                    <a:pt x="11006709" y="196850"/>
                  </a:cubicBezTo>
                  <a:lnTo>
                    <a:pt x="11006709" y="3494659"/>
                  </a:lnTo>
                  <a:cubicBezTo>
                    <a:pt x="11006709" y="3603371"/>
                    <a:pt x="10918571" y="3691509"/>
                    <a:pt x="1080985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21824" y="2468880"/>
            <a:ext cx="1280160" cy="1005840"/>
            <a:chOff x="0" y="0"/>
            <a:chExt cx="170688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09" t="0" r="-5080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7068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21824" y="3291840"/>
            <a:ext cx="7315200" cy="822960"/>
            <a:chOff x="0" y="0"/>
            <a:chExt cx="97536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753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Space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21824" y="4059936"/>
            <a:ext cx="7315200" cy="640080"/>
            <a:chOff x="0" y="0"/>
            <a:chExt cx="975360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Interviews &amp;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5839463"/>
            <a:ext cx="8255003" cy="2768603"/>
            <a:chOff x="0" y="0"/>
            <a:chExt cx="11006671" cy="36914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06709" cy="3691509"/>
            </a:xfrm>
            <a:custGeom>
              <a:avLst/>
              <a:gdLst/>
              <a:ahLst/>
              <a:cxnLst/>
              <a:rect r="r" b="b" t="t" l="l"/>
              <a:pathLst>
                <a:path h="3691509" w="1100670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809859" y="0"/>
                  </a:lnTo>
                  <a:cubicBezTo>
                    <a:pt x="10918571" y="0"/>
                    <a:pt x="11006709" y="88138"/>
                    <a:pt x="11006709" y="196850"/>
                  </a:cubicBezTo>
                  <a:lnTo>
                    <a:pt x="11006709" y="3494659"/>
                  </a:lnTo>
                  <a:cubicBezTo>
                    <a:pt x="11006709" y="3603371"/>
                    <a:pt x="10918571" y="3691509"/>
                    <a:pt x="1080985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43584" y="6126480"/>
            <a:ext cx="1280160" cy="1005840"/>
            <a:chOff x="0" y="0"/>
            <a:chExt cx="170688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6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09" t="0" r="-5080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17068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3584" y="6949440"/>
            <a:ext cx="7315200" cy="822960"/>
            <a:chOff x="0" y="0"/>
            <a:chExt cx="97536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9753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 Space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3584" y="7717536"/>
            <a:ext cx="7315200" cy="640080"/>
            <a:chOff x="0" y="0"/>
            <a:chExt cx="975360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Proposed Design Approach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79943" y="5839463"/>
            <a:ext cx="8255003" cy="2768603"/>
            <a:chOff x="0" y="0"/>
            <a:chExt cx="11006671" cy="36914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006709" cy="3691509"/>
            </a:xfrm>
            <a:custGeom>
              <a:avLst/>
              <a:gdLst/>
              <a:ahLst/>
              <a:cxnLst/>
              <a:rect r="r" b="b" t="t" l="l"/>
              <a:pathLst>
                <a:path h="3691509" w="1100670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809859" y="0"/>
                  </a:lnTo>
                  <a:cubicBezTo>
                    <a:pt x="10918571" y="0"/>
                    <a:pt x="11006709" y="88138"/>
                    <a:pt x="11006709" y="196850"/>
                  </a:cubicBezTo>
                  <a:lnTo>
                    <a:pt x="11006709" y="3494659"/>
                  </a:lnTo>
                  <a:cubicBezTo>
                    <a:pt x="11006709" y="3603371"/>
                    <a:pt x="10918571" y="3691509"/>
                    <a:pt x="10809859" y="3691509"/>
                  </a:cubicBezTo>
                  <a:lnTo>
                    <a:pt x="196850" y="3691509"/>
                  </a:lnTo>
                  <a:cubicBezTo>
                    <a:pt x="88138" y="3691509"/>
                    <a:pt x="0" y="3603371"/>
                    <a:pt x="0" y="3494659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021824" y="6126480"/>
            <a:ext cx="1280160" cy="1005840"/>
            <a:chOff x="0" y="0"/>
            <a:chExt cx="170688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09" t="0" r="-5080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17068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021824" y="6949440"/>
            <a:ext cx="7315200" cy="822960"/>
            <a:chOff x="0" y="0"/>
            <a:chExt cx="975360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9753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021824" y="7717536"/>
            <a:ext cx="7315200" cy="640080"/>
            <a:chOff x="0" y="0"/>
            <a:chExt cx="9753600" cy="853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Recommended Path Forward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80000">
            <a:off x="13154663" y="-74421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1006709"/>
                  </a:lnTo>
                  <a:lnTo>
                    <a:pt x="0" y="11006709"/>
                  </a:lnTo>
                  <a:close/>
                </a:path>
              </a:pathLst>
            </a:custGeom>
            <a:solidFill>
              <a:srgbClr val="2B2B2B">
                <a:alpha val="3568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600000">
            <a:off x="14983463" y="4559303"/>
            <a:ext cx="5877563" cy="5877563"/>
            <a:chOff x="0" y="0"/>
            <a:chExt cx="7836751" cy="78367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36789" cy="7836789"/>
            </a:xfrm>
            <a:custGeom>
              <a:avLst/>
              <a:gdLst/>
              <a:ahLst/>
              <a:cxnLst/>
              <a:rect r="r" b="b" t="t" l="l"/>
              <a:pathLst>
                <a:path h="7836789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7836789"/>
                  </a:lnTo>
                  <a:lnTo>
                    <a:pt x="0" y="7836789"/>
                  </a:lnTo>
                  <a:close/>
                </a:path>
              </a:pathLst>
            </a:custGeom>
            <a:solidFill>
              <a:srgbClr val="5A5A5A">
                <a:alpha val="1568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926080"/>
            <a:ext cx="11887200" cy="3291840"/>
            <a:chOff x="0" y="0"/>
            <a:chExt cx="15849600" cy="4389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49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71450"/>
              <a:ext cx="15849600" cy="456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6400800"/>
            <a:ext cx="10972800" cy="1280160"/>
            <a:chOff x="0" y="0"/>
            <a:chExt cx="146304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6304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Pre-solved approaches from research &amp; open source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974843" cy="10312403"/>
            <a:chOff x="0" y="0"/>
            <a:chExt cx="9299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365760"/>
            <a:ext cx="6400800" cy="1280160"/>
            <a:chOff x="0" y="0"/>
            <a:chExt cx="853440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 — Existing Solutions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5760" y="1531620"/>
            <a:ext cx="6035040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DETECTION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SENSOR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85383" y="627383"/>
            <a:ext cx="5054603" cy="1159259"/>
            <a:chOff x="0" y="0"/>
            <a:chExt cx="6739471" cy="15456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39510" cy="1545717"/>
            </a:xfrm>
            <a:custGeom>
              <a:avLst/>
              <a:gdLst/>
              <a:ahLst/>
              <a:cxnLst/>
              <a:rect r="r" b="b" t="t" l="l"/>
              <a:pathLst>
                <a:path h="1545717" w="673951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589903" y="0"/>
                  </a:lnTo>
                  <a:cubicBezTo>
                    <a:pt x="6672453" y="0"/>
                    <a:pt x="6739510" y="66929"/>
                    <a:pt x="6739510" y="149606"/>
                  </a:cubicBezTo>
                  <a:lnTo>
                    <a:pt x="6739510" y="1396111"/>
                  </a:lnTo>
                  <a:cubicBezTo>
                    <a:pt x="6739510" y="1478661"/>
                    <a:pt x="6672580" y="1545717"/>
                    <a:pt x="6589903" y="1545717"/>
                  </a:cubicBezTo>
                  <a:lnTo>
                    <a:pt x="149606" y="1545717"/>
                  </a:lnTo>
                  <a:cubicBezTo>
                    <a:pt x="66929" y="1545717"/>
                    <a:pt x="0" y="1478661"/>
                    <a:pt x="0" y="13961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717536" y="749808"/>
            <a:ext cx="4572000" cy="475488"/>
            <a:chOff x="0" y="0"/>
            <a:chExt cx="6096000" cy="6339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Ultrasonic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717536" y="1207008"/>
            <a:ext cx="4572000" cy="438912"/>
            <a:chOff x="0" y="0"/>
            <a:chExt cx="609600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96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per space · sound waves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80343" y="627383"/>
            <a:ext cx="5054603" cy="1159259"/>
            <a:chOff x="0" y="0"/>
            <a:chExt cx="6739471" cy="15456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39510" cy="1545717"/>
            </a:xfrm>
            <a:custGeom>
              <a:avLst/>
              <a:gdLst/>
              <a:ahLst/>
              <a:cxnLst/>
              <a:rect r="r" b="b" t="t" l="l"/>
              <a:pathLst>
                <a:path h="1545717" w="673951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589903" y="0"/>
                  </a:lnTo>
                  <a:cubicBezTo>
                    <a:pt x="6672453" y="0"/>
                    <a:pt x="6739510" y="66929"/>
                    <a:pt x="6739510" y="149606"/>
                  </a:cubicBezTo>
                  <a:lnTo>
                    <a:pt x="6739510" y="1396111"/>
                  </a:lnTo>
                  <a:cubicBezTo>
                    <a:pt x="6739510" y="1478661"/>
                    <a:pt x="6672580" y="1545717"/>
                    <a:pt x="6589903" y="1545717"/>
                  </a:cubicBezTo>
                  <a:lnTo>
                    <a:pt x="149606" y="1545717"/>
                  </a:lnTo>
                  <a:cubicBezTo>
                    <a:pt x="66929" y="1545717"/>
                    <a:pt x="0" y="1478661"/>
                    <a:pt x="0" y="13961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112496" y="749808"/>
            <a:ext cx="4572000" cy="475488"/>
            <a:chOff x="0" y="0"/>
            <a:chExt cx="6096000" cy="633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Infrared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112496" y="1207008"/>
            <a:ext cx="4572000" cy="438912"/>
            <a:chOff x="0" y="0"/>
            <a:chExt cx="609600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096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per space · light beam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85383" y="1944119"/>
            <a:ext cx="5054603" cy="1159259"/>
            <a:chOff x="0" y="0"/>
            <a:chExt cx="6739471" cy="15456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39510" cy="1545717"/>
            </a:xfrm>
            <a:custGeom>
              <a:avLst/>
              <a:gdLst/>
              <a:ahLst/>
              <a:cxnLst/>
              <a:rect r="r" b="b" t="t" l="l"/>
              <a:pathLst>
                <a:path h="1545717" w="673951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589903" y="0"/>
                  </a:lnTo>
                  <a:cubicBezTo>
                    <a:pt x="6672453" y="0"/>
                    <a:pt x="6739510" y="66929"/>
                    <a:pt x="6739510" y="149606"/>
                  </a:cubicBezTo>
                  <a:lnTo>
                    <a:pt x="6739510" y="1396111"/>
                  </a:lnTo>
                  <a:cubicBezTo>
                    <a:pt x="6739510" y="1478661"/>
                    <a:pt x="6672580" y="1545717"/>
                    <a:pt x="6589903" y="1545717"/>
                  </a:cubicBezTo>
                  <a:lnTo>
                    <a:pt x="149606" y="1545717"/>
                  </a:lnTo>
                  <a:cubicBezTo>
                    <a:pt x="66929" y="1545717"/>
                    <a:pt x="0" y="1478661"/>
                    <a:pt x="0" y="13961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717536" y="2066544"/>
            <a:ext cx="4572000" cy="475488"/>
            <a:chOff x="0" y="0"/>
            <a:chExt cx="609600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Magnetometer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17536" y="2523744"/>
            <a:ext cx="4572000" cy="438912"/>
            <a:chOff x="0" y="0"/>
            <a:chExt cx="609600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096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Car-specific · no line-of-sight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80343" y="1944119"/>
            <a:ext cx="5054603" cy="1159259"/>
            <a:chOff x="0" y="0"/>
            <a:chExt cx="6739471" cy="15456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39510" cy="1545717"/>
            </a:xfrm>
            <a:custGeom>
              <a:avLst/>
              <a:gdLst/>
              <a:ahLst/>
              <a:cxnLst/>
              <a:rect r="r" b="b" t="t" l="l"/>
              <a:pathLst>
                <a:path h="1545717" w="673951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589903" y="0"/>
                  </a:lnTo>
                  <a:cubicBezTo>
                    <a:pt x="6672453" y="0"/>
                    <a:pt x="6739510" y="66929"/>
                    <a:pt x="6739510" y="149606"/>
                  </a:cubicBezTo>
                  <a:lnTo>
                    <a:pt x="6739510" y="1396111"/>
                  </a:lnTo>
                  <a:cubicBezTo>
                    <a:pt x="6739510" y="1478661"/>
                    <a:pt x="6672580" y="1545717"/>
                    <a:pt x="6589903" y="1545717"/>
                  </a:cubicBezTo>
                  <a:lnTo>
                    <a:pt x="149606" y="1545717"/>
                  </a:lnTo>
                  <a:cubicBezTo>
                    <a:pt x="66929" y="1545717"/>
                    <a:pt x="0" y="1478661"/>
                    <a:pt x="0" y="13961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112496" y="2066544"/>
            <a:ext cx="4572000" cy="475488"/>
            <a:chOff x="0" y="0"/>
            <a:chExt cx="6096000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Computer Vision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112496" y="2523744"/>
            <a:ext cx="4572000" cy="438912"/>
            <a:chOff x="0" y="0"/>
            <a:chExt cx="609600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096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camera per lot · ML-based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85383" y="3260855"/>
            <a:ext cx="5054603" cy="1159259"/>
            <a:chOff x="0" y="0"/>
            <a:chExt cx="6739471" cy="154567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39510" cy="1545717"/>
            </a:xfrm>
            <a:custGeom>
              <a:avLst/>
              <a:gdLst/>
              <a:ahLst/>
              <a:cxnLst/>
              <a:rect r="r" b="b" t="t" l="l"/>
              <a:pathLst>
                <a:path h="1545717" w="673951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589903" y="0"/>
                  </a:lnTo>
                  <a:cubicBezTo>
                    <a:pt x="6672453" y="0"/>
                    <a:pt x="6739510" y="66929"/>
                    <a:pt x="6739510" y="149606"/>
                  </a:cubicBezTo>
                  <a:lnTo>
                    <a:pt x="6739510" y="1396111"/>
                  </a:lnTo>
                  <a:cubicBezTo>
                    <a:pt x="6739510" y="1478661"/>
                    <a:pt x="6672580" y="1545717"/>
                    <a:pt x="6589903" y="1545717"/>
                  </a:cubicBezTo>
                  <a:lnTo>
                    <a:pt x="149606" y="1545717"/>
                  </a:lnTo>
                  <a:cubicBezTo>
                    <a:pt x="66929" y="1545717"/>
                    <a:pt x="0" y="1478661"/>
                    <a:pt x="0" y="13961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717536" y="3383280"/>
            <a:ext cx="4572000" cy="475488"/>
            <a:chOff x="0" y="0"/>
            <a:chExt cx="6096000" cy="6339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LiDAR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717536" y="3840480"/>
            <a:ext cx="4572000" cy="622139"/>
            <a:chOff x="0" y="0"/>
            <a:chExt cx="6096000" cy="8295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96000" cy="829518"/>
            </a:xfrm>
            <a:custGeom>
              <a:avLst/>
              <a:gdLst/>
              <a:ahLst/>
              <a:cxnLst/>
              <a:rect r="r" b="b" t="t" l="l"/>
              <a:pathLst>
                <a:path h="82951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18" r="0" b="-784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09600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Expensive</a:t>
              </a: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·  High accuracy · covers multiple spaces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880343" y="3260855"/>
            <a:ext cx="5054603" cy="1159259"/>
            <a:chOff x="0" y="0"/>
            <a:chExt cx="6739471" cy="154567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39510" cy="1545717"/>
            </a:xfrm>
            <a:custGeom>
              <a:avLst/>
              <a:gdLst/>
              <a:ahLst/>
              <a:cxnLst/>
              <a:rect r="r" b="b" t="t" l="l"/>
              <a:pathLst>
                <a:path h="1545717" w="673951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589903" y="0"/>
                  </a:lnTo>
                  <a:cubicBezTo>
                    <a:pt x="6672453" y="0"/>
                    <a:pt x="6739510" y="66929"/>
                    <a:pt x="6739510" y="149606"/>
                  </a:cubicBezTo>
                  <a:lnTo>
                    <a:pt x="6739510" y="1396111"/>
                  </a:lnTo>
                  <a:cubicBezTo>
                    <a:pt x="6739510" y="1478661"/>
                    <a:pt x="6672580" y="1545717"/>
                    <a:pt x="6589903" y="1545717"/>
                  </a:cubicBezTo>
                  <a:lnTo>
                    <a:pt x="149606" y="1545717"/>
                  </a:lnTo>
                  <a:cubicBezTo>
                    <a:pt x="66929" y="1545717"/>
                    <a:pt x="0" y="1478661"/>
                    <a:pt x="0" y="13961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112496" y="3383280"/>
            <a:ext cx="4572000" cy="475488"/>
            <a:chOff x="0" y="0"/>
            <a:chExt cx="6096000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Pressure Sensor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112496" y="3840480"/>
            <a:ext cx="4572000" cy="438912"/>
            <a:chOff x="0" y="0"/>
            <a:chExt cx="609600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096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Weight-triggered · 1 per space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485383" y="4577591"/>
            <a:ext cx="5054603" cy="1159259"/>
            <a:chOff x="0" y="0"/>
            <a:chExt cx="6739471" cy="154567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39510" cy="1545717"/>
            </a:xfrm>
            <a:custGeom>
              <a:avLst/>
              <a:gdLst/>
              <a:ahLst/>
              <a:cxnLst/>
              <a:rect r="r" b="b" t="t" l="l"/>
              <a:pathLst>
                <a:path h="1545717" w="673951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589903" y="0"/>
                  </a:lnTo>
                  <a:cubicBezTo>
                    <a:pt x="6672453" y="0"/>
                    <a:pt x="6739510" y="66929"/>
                    <a:pt x="6739510" y="149606"/>
                  </a:cubicBezTo>
                  <a:lnTo>
                    <a:pt x="6739510" y="1396111"/>
                  </a:lnTo>
                  <a:cubicBezTo>
                    <a:pt x="6739510" y="1478661"/>
                    <a:pt x="6672580" y="1545717"/>
                    <a:pt x="6589903" y="1545717"/>
                  </a:cubicBezTo>
                  <a:lnTo>
                    <a:pt x="149606" y="1545717"/>
                  </a:lnTo>
                  <a:cubicBezTo>
                    <a:pt x="66929" y="1545717"/>
                    <a:pt x="0" y="1478661"/>
                    <a:pt x="0" y="13961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717536" y="4700016"/>
            <a:ext cx="4572000" cy="475488"/>
            <a:chOff x="0" y="0"/>
            <a:chExt cx="6096000" cy="6339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RFID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717536" y="5157216"/>
            <a:ext cx="4572000" cy="438912"/>
            <a:chOff x="0" y="0"/>
            <a:chExt cx="609600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096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Entry/exit count · Wits cards compatible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880343" y="4577591"/>
            <a:ext cx="5054603" cy="1159259"/>
            <a:chOff x="0" y="0"/>
            <a:chExt cx="6739471" cy="15456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739510" cy="1545717"/>
            </a:xfrm>
            <a:custGeom>
              <a:avLst/>
              <a:gdLst/>
              <a:ahLst/>
              <a:cxnLst/>
              <a:rect r="r" b="b" t="t" l="l"/>
              <a:pathLst>
                <a:path h="1545717" w="673951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6589903" y="0"/>
                  </a:lnTo>
                  <a:cubicBezTo>
                    <a:pt x="6672453" y="0"/>
                    <a:pt x="6739510" y="66929"/>
                    <a:pt x="6739510" y="149606"/>
                  </a:cubicBezTo>
                  <a:lnTo>
                    <a:pt x="6739510" y="1396111"/>
                  </a:lnTo>
                  <a:cubicBezTo>
                    <a:pt x="6739510" y="1478661"/>
                    <a:pt x="6672580" y="1545717"/>
                    <a:pt x="6589903" y="1545717"/>
                  </a:cubicBezTo>
                  <a:lnTo>
                    <a:pt x="149606" y="1545717"/>
                  </a:lnTo>
                  <a:cubicBezTo>
                    <a:pt x="66929" y="1545717"/>
                    <a:pt x="0" y="1478661"/>
                    <a:pt x="0" y="13961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112496" y="4700016"/>
            <a:ext cx="4572000" cy="475488"/>
            <a:chOff x="0" y="0"/>
            <a:chExt cx="6096000" cy="6339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Radar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112496" y="5157216"/>
            <a:ext cx="4572000" cy="438912"/>
            <a:chOff x="0" y="0"/>
            <a:chExt cx="6096000" cy="5852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0960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All-weather · wider coverage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974843" cy="10312403"/>
            <a:chOff x="0" y="0"/>
            <a:chExt cx="9299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365760"/>
            <a:ext cx="6400800" cy="1280160"/>
            <a:chOff x="0" y="0"/>
            <a:chExt cx="853440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 — Existing Solutions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5760" y="1531620"/>
            <a:ext cx="6035040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&amp;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PRESENT-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98080" y="402336"/>
            <a:ext cx="10241280" cy="548640"/>
            <a:chOff x="0" y="0"/>
            <a:chExt cx="13655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55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655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85383" y="974855"/>
            <a:ext cx="10266683" cy="976379"/>
            <a:chOff x="0" y="0"/>
            <a:chExt cx="13688911" cy="13018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889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688949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lnTo>
                    <a:pt x="13563727" y="0"/>
                  </a:lnTo>
                  <a:cubicBezTo>
                    <a:pt x="13632814" y="0"/>
                    <a:pt x="13688949" y="56007"/>
                    <a:pt x="13688949" y="125222"/>
                  </a:cubicBezTo>
                  <a:lnTo>
                    <a:pt x="13688949" y="1176655"/>
                  </a:lnTo>
                  <a:cubicBezTo>
                    <a:pt x="13688949" y="1245743"/>
                    <a:pt x="13632942" y="1301877"/>
                    <a:pt x="13563727" y="1301877"/>
                  </a:cubicBezTo>
                  <a:lnTo>
                    <a:pt x="125222" y="1301877"/>
                  </a:lnTo>
                  <a:cubicBezTo>
                    <a:pt x="56007" y="1301877"/>
                    <a:pt x="0" y="1245743"/>
                    <a:pt x="0" y="117665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717536" y="1060704"/>
            <a:ext cx="9692640" cy="438912"/>
            <a:chOff x="0" y="0"/>
            <a:chExt cx="1292352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9235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Counter (Entry/Exit)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17536" y="1481328"/>
            <a:ext cx="9692640" cy="379419"/>
            <a:chOff x="0" y="0"/>
            <a:chExt cx="12923520" cy="5058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23520" cy="505892"/>
            </a:xfrm>
            <a:custGeom>
              <a:avLst/>
              <a:gdLst/>
              <a:ahLst/>
              <a:cxnLst/>
              <a:rect r="r" b="b" t="t" l="l"/>
              <a:pathLst>
                <a:path h="50589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05892"/>
                  </a:lnTo>
                  <a:lnTo>
                    <a:pt x="0" y="505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565" r="0" b="-44596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92352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 or RFID at lot entrance: total count only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85383" y="2072135"/>
            <a:ext cx="10266683" cy="976379"/>
            <a:chOff x="0" y="0"/>
            <a:chExt cx="13688911" cy="13018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889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688949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lnTo>
                    <a:pt x="13563727" y="0"/>
                  </a:lnTo>
                  <a:cubicBezTo>
                    <a:pt x="13632814" y="0"/>
                    <a:pt x="13688949" y="56007"/>
                    <a:pt x="13688949" y="125222"/>
                  </a:cubicBezTo>
                  <a:lnTo>
                    <a:pt x="13688949" y="1176655"/>
                  </a:lnTo>
                  <a:cubicBezTo>
                    <a:pt x="13688949" y="1245743"/>
                    <a:pt x="13632942" y="1301877"/>
                    <a:pt x="13563727" y="1301877"/>
                  </a:cubicBezTo>
                  <a:lnTo>
                    <a:pt x="125222" y="1301877"/>
                  </a:lnTo>
                  <a:cubicBezTo>
                    <a:pt x="56007" y="1301877"/>
                    <a:pt x="0" y="1245743"/>
                    <a:pt x="0" y="117665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717536" y="2157984"/>
            <a:ext cx="9692640" cy="438912"/>
            <a:chOff x="0" y="0"/>
            <a:chExt cx="1292352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9235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Per-Space Detection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17536" y="2578608"/>
            <a:ext cx="9692640" cy="379419"/>
            <a:chOff x="0" y="0"/>
            <a:chExt cx="12923520" cy="5058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923520" cy="505892"/>
            </a:xfrm>
            <a:custGeom>
              <a:avLst/>
              <a:gdLst/>
              <a:ahLst/>
              <a:cxnLst/>
              <a:rect r="r" b="b" t="t" l="l"/>
              <a:pathLst>
                <a:path h="50589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05892"/>
                  </a:lnTo>
                  <a:lnTo>
                    <a:pt x="0" y="505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565" r="0" b="-44596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92352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IR, ultrasonic, pressure, LiDAR, CV: exact space status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98080" y="3401568"/>
            <a:ext cx="10241280" cy="548640"/>
            <a:chOff x="0" y="0"/>
            <a:chExt cx="136550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655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655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COLLECTION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85383" y="3974087"/>
            <a:ext cx="10266683" cy="976379"/>
            <a:chOff x="0" y="0"/>
            <a:chExt cx="13688911" cy="130183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6889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688949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lnTo>
                    <a:pt x="13563727" y="0"/>
                  </a:lnTo>
                  <a:cubicBezTo>
                    <a:pt x="13632814" y="0"/>
                    <a:pt x="13688949" y="56007"/>
                    <a:pt x="13688949" y="125222"/>
                  </a:cubicBezTo>
                  <a:lnTo>
                    <a:pt x="13688949" y="1176655"/>
                  </a:lnTo>
                  <a:cubicBezTo>
                    <a:pt x="13688949" y="1245743"/>
                    <a:pt x="13632942" y="1301877"/>
                    <a:pt x="13563727" y="1301877"/>
                  </a:cubicBezTo>
                  <a:lnTo>
                    <a:pt x="125222" y="1301877"/>
                  </a:lnTo>
                  <a:cubicBezTo>
                    <a:pt x="56007" y="1301877"/>
                    <a:pt x="0" y="1245743"/>
                    <a:pt x="0" y="117665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717536" y="4059936"/>
            <a:ext cx="9692640" cy="441833"/>
            <a:chOff x="0" y="0"/>
            <a:chExt cx="12923520" cy="589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923520" cy="589111"/>
            </a:xfrm>
            <a:custGeom>
              <a:avLst/>
              <a:gdLst/>
              <a:ahLst/>
              <a:cxnLst/>
              <a:rect r="r" b="b" t="t" l="l"/>
              <a:pathLst>
                <a:path h="589111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780" r="0" b="-37711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292352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</a:t>
              </a: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Server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717536" y="4480560"/>
            <a:ext cx="9692640" cy="379419"/>
            <a:chOff x="0" y="0"/>
            <a:chExt cx="12923520" cy="5058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923520" cy="505892"/>
            </a:xfrm>
            <a:custGeom>
              <a:avLst/>
              <a:gdLst/>
              <a:ahLst/>
              <a:cxnLst/>
              <a:rect r="r" b="b" t="t" l="l"/>
              <a:pathLst>
                <a:path h="50589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05892"/>
                  </a:lnTo>
                  <a:lnTo>
                    <a:pt x="0" y="505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565" r="0" b="-44596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92352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Centralised: easy to feed app or website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85383" y="5071367"/>
            <a:ext cx="10266683" cy="976379"/>
            <a:chOff x="0" y="0"/>
            <a:chExt cx="13688911" cy="13018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6889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688949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lnTo>
                    <a:pt x="13563727" y="0"/>
                  </a:lnTo>
                  <a:cubicBezTo>
                    <a:pt x="13632814" y="0"/>
                    <a:pt x="13688949" y="56007"/>
                    <a:pt x="13688949" y="125222"/>
                  </a:cubicBezTo>
                  <a:lnTo>
                    <a:pt x="13688949" y="1176655"/>
                  </a:lnTo>
                  <a:cubicBezTo>
                    <a:pt x="13688949" y="1245743"/>
                    <a:pt x="13632942" y="1301877"/>
                    <a:pt x="13563727" y="1301877"/>
                  </a:cubicBezTo>
                  <a:lnTo>
                    <a:pt x="125222" y="1301877"/>
                  </a:lnTo>
                  <a:cubicBezTo>
                    <a:pt x="56007" y="1301877"/>
                    <a:pt x="0" y="1245743"/>
                    <a:pt x="0" y="117665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717536" y="5157216"/>
            <a:ext cx="9692640" cy="441833"/>
            <a:chOff x="0" y="0"/>
            <a:chExt cx="12923520" cy="589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923520" cy="589111"/>
            </a:xfrm>
            <a:custGeom>
              <a:avLst/>
              <a:gdLst/>
              <a:ahLst/>
              <a:cxnLst/>
              <a:rect r="r" b="b" t="t" l="l"/>
              <a:pathLst>
                <a:path h="589111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780" r="0" b="-37711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292352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Microcontroller (Edge Computing)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717536" y="5577840"/>
            <a:ext cx="9692640" cy="379419"/>
            <a:chOff x="0" y="0"/>
            <a:chExt cx="12923520" cy="5058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923520" cy="505892"/>
            </a:xfrm>
            <a:custGeom>
              <a:avLst/>
              <a:gdLst/>
              <a:ahLst/>
              <a:cxnLst/>
              <a:rect r="r" b="b" t="t" l="l"/>
              <a:pathLst>
                <a:path h="50589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05892"/>
                  </a:lnTo>
                  <a:lnTo>
                    <a:pt x="0" y="505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565" r="0" b="-44596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92352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Standalone: no external infrastructure needed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498080" y="6400800"/>
            <a:ext cx="10241280" cy="548640"/>
            <a:chOff x="0" y="0"/>
            <a:chExt cx="136550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655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3655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485383" y="6973319"/>
            <a:ext cx="10266683" cy="976379"/>
            <a:chOff x="0" y="0"/>
            <a:chExt cx="13688911" cy="130183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6889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688949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lnTo>
                    <a:pt x="13563727" y="0"/>
                  </a:lnTo>
                  <a:cubicBezTo>
                    <a:pt x="13632814" y="0"/>
                    <a:pt x="13688949" y="56007"/>
                    <a:pt x="13688949" y="125222"/>
                  </a:cubicBezTo>
                  <a:lnTo>
                    <a:pt x="13688949" y="1176655"/>
                  </a:lnTo>
                  <a:cubicBezTo>
                    <a:pt x="13688949" y="1245743"/>
                    <a:pt x="13632942" y="1301877"/>
                    <a:pt x="13563727" y="1301877"/>
                  </a:cubicBezTo>
                  <a:lnTo>
                    <a:pt x="125222" y="1301877"/>
                  </a:lnTo>
                  <a:cubicBezTo>
                    <a:pt x="56007" y="1301877"/>
                    <a:pt x="0" y="1245743"/>
                    <a:pt x="0" y="117665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717536" y="7059168"/>
            <a:ext cx="9692640" cy="438912"/>
            <a:chOff x="0" y="0"/>
            <a:chExt cx="12923520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29235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717536" y="7479792"/>
            <a:ext cx="9692640" cy="365760"/>
            <a:chOff x="0" y="0"/>
            <a:chExt cx="12923520" cy="487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923520" cy="487680"/>
            </a:xfrm>
            <a:custGeom>
              <a:avLst/>
              <a:gdLst/>
              <a:ahLst/>
              <a:cxnLst/>
              <a:rect r="r" b="b" t="t" l="l"/>
              <a:pathLst>
                <a:path h="48768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2923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Push notifications · navigation to space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485383" y="8070599"/>
            <a:ext cx="10266683" cy="976379"/>
            <a:chOff x="0" y="0"/>
            <a:chExt cx="13688911" cy="130183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6889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688949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lnTo>
                    <a:pt x="13563727" y="0"/>
                  </a:lnTo>
                  <a:cubicBezTo>
                    <a:pt x="13632814" y="0"/>
                    <a:pt x="13688949" y="56007"/>
                    <a:pt x="13688949" y="125222"/>
                  </a:cubicBezTo>
                  <a:lnTo>
                    <a:pt x="13688949" y="1176655"/>
                  </a:lnTo>
                  <a:cubicBezTo>
                    <a:pt x="13688949" y="1245743"/>
                    <a:pt x="13632942" y="1301877"/>
                    <a:pt x="13563727" y="1301877"/>
                  </a:cubicBezTo>
                  <a:lnTo>
                    <a:pt x="125222" y="1301877"/>
                  </a:lnTo>
                  <a:cubicBezTo>
                    <a:pt x="56007" y="1301877"/>
                    <a:pt x="0" y="1245743"/>
                    <a:pt x="0" y="117665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717536" y="8156448"/>
            <a:ext cx="9692640" cy="438912"/>
            <a:chOff x="0" y="0"/>
            <a:chExt cx="1292352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29235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Website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717536" y="8577072"/>
            <a:ext cx="9692640" cy="379419"/>
            <a:chOff x="0" y="0"/>
            <a:chExt cx="12923520" cy="5058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923520" cy="505892"/>
            </a:xfrm>
            <a:custGeom>
              <a:avLst/>
              <a:gdLst/>
              <a:ahLst/>
              <a:cxnLst/>
              <a:rect r="r" b="b" t="t" l="l"/>
              <a:pathLst>
                <a:path h="50589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05892"/>
                  </a:lnTo>
                  <a:lnTo>
                    <a:pt x="0" y="505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565" r="0" b="-44596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292352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install: browser only, needs internet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85383" y="9167879"/>
            <a:ext cx="10266683" cy="976379"/>
            <a:chOff x="0" y="0"/>
            <a:chExt cx="13688911" cy="130183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6889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688949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lnTo>
                    <a:pt x="13563727" y="0"/>
                  </a:lnTo>
                  <a:cubicBezTo>
                    <a:pt x="13632814" y="0"/>
                    <a:pt x="13688949" y="56007"/>
                    <a:pt x="13688949" y="125222"/>
                  </a:cubicBezTo>
                  <a:lnTo>
                    <a:pt x="13688949" y="1176655"/>
                  </a:lnTo>
                  <a:cubicBezTo>
                    <a:pt x="13688949" y="1245743"/>
                    <a:pt x="13632942" y="1301877"/>
                    <a:pt x="13563727" y="1301877"/>
                  </a:cubicBezTo>
                  <a:lnTo>
                    <a:pt x="125222" y="1301877"/>
                  </a:lnTo>
                  <a:cubicBezTo>
                    <a:pt x="56007" y="1301877"/>
                    <a:pt x="0" y="1245743"/>
                    <a:pt x="0" y="117665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7717536" y="9253728"/>
            <a:ext cx="9692640" cy="438912"/>
            <a:chOff x="0" y="0"/>
            <a:chExt cx="12923520" cy="5852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29235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Counter (physical)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717536" y="9674352"/>
            <a:ext cx="9692640" cy="379419"/>
            <a:chOff x="0" y="0"/>
            <a:chExt cx="12923520" cy="5058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923520" cy="505892"/>
            </a:xfrm>
            <a:custGeom>
              <a:avLst/>
              <a:gdLst/>
              <a:ahLst/>
              <a:cxnLst/>
              <a:rect r="r" b="b" t="t" l="l"/>
              <a:pathLst>
                <a:path h="50589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05892"/>
                  </a:lnTo>
                  <a:lnTo>
                    <a:pt x="0" y="505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565" r="0" b="-44596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292352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 display: lot-level availability only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485383" y="10265159"/>
            <a:ext cx="10266683" cy="976379"/>
            <a:chOff x="0" y="0"/>
            <a:chExt cx="13688911" cy="130183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6889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688949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lnTo>
                    <a:pt x="13563727" y="0"/>
                  </a:lnTo>
                  <a:cubicBezTo>
                    <a:pt x="13632814" y="0"/>
                    <a:pt x="13688949" y="56007"/>
                    <a:pt x="13688949" y="125222"/>
                  </a:cubicBezTo>
                  <a:lnTo>
                    <a:pt x="13688949" y="1176655"/>
                  </a:lnTo>
                  <a:cubicBezTo>
                    <a:pt x="13688949" y="1245743"/>
                    <a:pt x="13632942" y="1301877"/>
                    <a:pt x="13563727" y="1301877"/>
                  </a:cubicBezTo>
                  <a:lnTo>
                    <a:pt x="125222" y="1301877"/>
                  </a:lnTo>
                  <a:cubicBezTo>
                    <a:pt x="56007" y="1301877"/>
                    <a:pt x="0" y="1245743"/>
                    <a:pt x="0" y="1176655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7717536" y="10351008"/>
            <a:ext cx="9692640" cy="438912"/>
            <a:chOff x="0" y="0"/>
            <a:chExt cx="12923520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29235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LED Above Each Space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717536" y="10771632"/>
            <a:ext cx="9692640" cy="365760"/>
            <a:chOff x="0" y="0"/>
            <a:chExt cx="12923520" cy="4876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923520" cy="487680"/>
            </a:xfrm>
            <a:custGeom>
              <a:avLst/>
              <a:gdLst/>
              <a:ahLst/>
              <a:cxnLst/>
              <a:rect r="r" b="b" t="t" l="l"/>
              <a:pathLst>
                <a:path h="48768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2923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 local signal — only useful once inside lot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06549"/>
            </a:xfrm>
            <a:custGeom>
              <a:avLst/>
              <a:gdLst/>
              <a:ahLst/>
              <a:cxnLst/>
              <a:rect r="r" b="b" t="t" l="l"/>
              <a:pathLst>
                <a:path h="21065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670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TRADEOFFS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816103"/>
            <a:ext cx="17216123" cy="720347"/>
            <a:chOff x="0" y="0"/>
            <a:chExt cx="22954831" cy="9604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54869" cy="960501"/>
            </a:xfrm>
            <a:custGeom>
              <a:avLst/>
              <a:gdLst/>
              <a:ahLst/>
              <a:cxnLst/>
              <a:rect r="r" b="b" t="t" l="l"/>
              <a:pathLst>
                <a:path h="960501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791456" y="1956816"/>
            <a:ext cx="6126480" cy="475488"/>
            <a:chOff x="0" y="0"/>
            <a:chExt cx="8168640" cy="633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68640" cy="633984"/>
            </a:xfrm>
            <a:custGeom>
              <a:avLst/>
              <a:gdLst/>
              <a:ahLst/>
              <a:cxnLst/>
              <a:rect r="r" b="b" t="t" l="l"/>
              <a:pathLst>
                <a:path h="633984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57" r="0" b="-20105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686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92256" y="1956816"/>
            <a:ext cx="6126480" cy="475488"/>
            <a:chOff x="0" y="0"/>
            <a:chExt cx="816864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68640" cy="633984"/>
            </a:xfrm>
            <a:custGeom>
              <a:avLst/>
              <a:gdLst/>
              <a:ahLst/>
              <a:cxnLst/>
              <a:rect r="r" b="b" t="t" l="l"/>
              <a:pathLst>
                <a:path h="633984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57" r="0" b="-20105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686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5943" y="2584199"/>
            <a:ext cx="17216123" cy="830075"/>
            <a:chOff x="0" y="0"/>
            <a:chExt cx="22954831" cy="11067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54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68096" y="2743200"/>
            <a:ext cx="3749040" cy="548640"/>
            <a:chOff x="0" y="0"/>
            <a:chExt cx="49987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Ultrasonic / IR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91456" y="2743200"/>
            <a:ext cx="6126480" cy="548640"/>
            <a:chOff x="0" y="0"/>
            <a:chExt cx="81686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Cheapest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92256" y="2743200"/>
            <a:ext cx="6126480" cy="548640"/>
            <a:chOff x="0" y="0"/>
            <a:chExt cx="81686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sensor per space, prone to debris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462023"/>
            <a:ext cx="17216123" cy="830075"/>
            <a:chOff x="0" y="0"/>
            <a:chExt cx="22954831" cy="11067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954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F0F0F0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68096" y="3621024"/>
            <a:ext cx="3749040" cy="548640"/>
            <a:chOff x="0" y="0"/>
            <a:chExt cx="49987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Magnetometer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791456" y="3621024"/>
            <a:ext cx="6126480" cy="548640"/>
            <a:chOff x="0" y="0"/>
            <a:chExt cx="816864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Car-specific detection, weatherproof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92256" y="3621024"/>
            <a:ext cx="6126480" cy="548640"/>
            <a:chOff x="0" y="0"/>
            <a:chExt cx="81686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Needs per-site calibration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35943" y="4339847"/>
            <a:ext cx="17216123" cy="830075"/>
            <a:chOff x="0" y="0"/>
            <a:chExt cx="22954831" cy="110676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954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68096" y="4498848"/>
            <a:ext cx="3749040" cy="548640"/>
            <a:chOff x="0" y="0"/>
            <a:chExt cx="49987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Computer Vision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791456" y="4498848"/>
            <a:ext cx="6126480" cy="548640"/>
            <a:chOff x="0" y="0"/>
            <a:chExt cx="81686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camera covers whole lot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192256" y="4498848"/>
            <a:ext cx="6126480" cy="548640"/>
            <a:chOff x="0" y="0"/>
            <a:chExt cx="816864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Complex ML, camera = single failure point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35943" y="5217671"/>
            <a:ext cx="17216123" cy="830075"/>
            <a:chOff x="0" y="0"/>
            <a:chExt cx="22954831" cy="110676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954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F0F0F0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68096" y="5376672"/>
            <a:ext cx="3749040" cy="548640"/>
            <a:chOff x="0" y="0"/>
            <a:chExt cx="49987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RFID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791456" y="5376672"/>
            <a:ext cx="6126480" cy="548640"/>
            <a:chOff x="0" y="0"/>
            <a:chExt cx="81686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Wits cards ready, passive tags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192256" y="5376672"/>
            <a:ext cx="6126480" cy="548640"/>
            <a:chOff x="0" y="0"/>
            <a:chExt cx="816864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Entry/exit count only: no space ID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5943" y="6095495"/>
            <a:ext cx="17216123" cy="830075"/>
            <a:chOff x="0" y="0"/>
            <a:chExt cx="22954831" cy="110676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954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768096" y="6254496"/>
            <a:ext cx="3749040" cy="548640"/>
            <a:chOff x="0" y="0"/>
            <a:chExt cx="49987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Counter approach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791456" y="6254496"/>
            <a:ext cx="6126480" cy="548640"/>
            <a:chOff x="0" y="0"/>
            <a:chExt cx="816864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Simple, 1 sensor at entrance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192256" y="6254496"/>
            <a:ext cx="6126480" cy="548640"/>
            <a:chOff x="0" y="0"/>
            <a:chExt cx="816864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count onlycan't show free spaces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35943" y="6973319"/>
            <a:ext cx="17216123" cy="830075"/>
            <a:chOff x="0" y="0"/>
            <a:chExt cx="22954831" cy="110676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954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F0F0F0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768096" y="7132320"/>
            <a:ext cx="3749040" cy="548640"/>
            <a:chOff x="0" y="0"/>
            <a:chExt cx="499872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Per-space approach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791456" y="7132320"/>
            <a:ext cx="6126480" cy="548640"/>
            <a:chOff x="0" y="0"/>
            <a:chExt cx="816864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Exact space availability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192256" y="7132320"/>
            <a:ext cx="6126480" cy="548640"/>
            <a:chOff x="0" y="0"/>
            <a:chExt cx="816864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Many sensors: higher cost &amp; maintenance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35943" y="7851143"/>
            <a:ext cx="17216123" cy="830075"/>
            <a:chOff x="0" y="0"/>
            <a:chExt cx="22954831" cy="110676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954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768096" y="8010144"/>
            <a:ext cx="3749040" cy="548640"/>
            <a:chOff x="0" y="0"/>
            <a:chExt cx="499872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WiFi → Server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791456" y="8010144"/>
            <a:ext cx="6126480" cy="548640"/>
            <a:chOff x="0" y="0"/>
            <a:chExt cx="816864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Powers app/website, multi-lot data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192256" y="8010144"/>
            <a:ext cx="6126480" cy="548640"/>
            <a:chOff x="0" y="0"/>
            <a:chExt cx="816864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Ongoing server cost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35943" y="8728967"/>
            <a:ext cx="17216123" cy="830075"/>
            <a:chOff x="0" y="0"/>
            <a:chExt cx="22954831" cy="110676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954869" cy="1106805"/>
            </a:xfrm>
            <a:custGeom>
              <a:avLst/>
              <a:gdLst/>
              <a:ahLst/>
              <a:cxnLst/>
              <a:rect r="r" b="b" t="t" l="l"/>
              <a:pathLst>
                <a:path h="1106805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106805"/>
                  </a:lnTo>
                  <a:lnTo>
                    <a:pt x="0" y="1106805"/>
                  </a:lnTo>
                  <a:close/>
                </a:path>
              </a:pathLst>
            </a:custGeom>
            <a:solidFill>
              <a:srgbClr val="F0F0F0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768096" y="8887968"/>
            <a:ext cx="3749040" cy="548640"/>
            <a:chOff x="0" y="0"/>
            <a:chExt cx="499872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499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/ Website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4791456" y="8887968"/>
            <a:ext cx="6126480" cy="548640"/>
            <a:chOff x="0" y="0"/>
            <a:chExt cx="816864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data, navigation possible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192256" y="8887968"/>
            <a:ext cx="6126480" cy="548640"/>
            <a:chOff x="0" y="0"/>
            <a:chExt cx="816864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needs install; website needs internet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80000">
            <a:off x="13154663" y="-74421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1006709"/>
                  </a:lnTo>
                  <a:lnTo>
                    <a:pt x="0" y="11006709"/>
                  </a:lnTo>
                  <a:close/>
                </a:path>
              </a:pathLst>
            </a:custGeom>
            <a:solidFill>
              <a:srgbClr val="2B2B2B">
                <a:alpha val="3568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600000">
            <a:off x="14983463" y="4559303"/>
            <a:ext cx="5877563" cy="5877563"/>
            <a:chOff x="0" y="0"/>
            <a:chExt cx="7836751" cy="78367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36789" cy="7836789"/>
            </a:xfrm>
            <a:custGeom>
              <a:avLst/>
              <a:gdLst/>
              <a:ahLst/>
              <a:cxnLst/>
              <a:rect r="r" b="b" t="t" l="l"/>
              <a:pathLst>
                <a:path h="7836789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7836789"/>
                  </a:lnTo>
                  <a:lnTo>
                    <a:pt x="0" y="7836789"/>
                  </a:lnTo>
                  <a:close/>
                </a:path>
              </a:pathLst>
            </a:custGeom>
            <a:solidFill>
              <a:srgbClr val="5A5A5A">
                <a:alpha val="1568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926080"/>
            <a:ext cx="11887200" cy="3291840"/>
            <a:chOff x="0" y="0"/>
            <a:chExt cx="15849600" cy="4389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49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71450"/>
              <a:ext cx="15849600" cy="456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6400800"/>
            <a:ext cx="10972800" cy="1280160"/>
            <a:chOff x="0" y="0"/>
            <a:chExt cx="146304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6304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Thinking: User Research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06549"/>
            </a:xfrm>
            <a:custGeom>
              <a:avLst/>
              <a:gdLst/>
              <a:ahLst/>
              <a:cxnLst/>
              <a:rect r="r" b="b" t="t" l="l"/>
              <a:pathLst>
                <a:path h="21065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THE PROBLEM SPACE?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907543"/>
            <a:ext cx="17216123" cy="1854203"/>
            <a:chOff x="0" y="0"/>
            <a:chExt cx="22954831" cy="24722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5474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954742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22757003" y="0"/>
                  </a:lnTo>
                  <a:cubicBezTo>
                    <a:pt x="22866223" y="0"/>
                    <a:pt x="22954742" y="88519"/>
                    <a:pt x="22954742" y="197739"/>
                  </a:cubicBezTo>
                  <a:lnTo>
                    <a:pt x="22954742" y="2274443"/>
                  </a:lnTo>
                  <a:cubicBezTo>
                    <a:pt x="22954742" y="2383663"/>
                    <a:pt x="22866223" y="2472182"/>
                    <a:pt x="22757003" y="2472182"/>
                  </a:cubicBezTo>
                  <a:lnTo>
                    <a:pt x="197739" y="2472182"/>
                  </a:lnTo>
                  <a:cubicBezTo>
                    <a:pt x="88519" y="2472309"/>
                    <a:pt x="0" y="2383663"/>
                    <a:pt x="0" y="2274443"/>
                  </a:cubicBez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2194560"/>
            <a:ext cx="16093440" cy="914400"/>
            <a:chOff x="0" y="0"/>
            <a:chExt cx="2145792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Understand the user deeply before you touch a solution.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" y="3127248"/>
            <a:ext cx="16093440" cy="457200"/>
            <a:chOff x="0" y="0"/>
            <a:chExt cx="2145792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problem space covers the first two stages of design thinking. Empathise and Define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5943" y="4102103"/>
            <a:ext cx="8437883" cy="5511803"/>
            <a:chOff x="0" y="0"/>
            <a:chExt cx="11250511" cy="73490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50422" cy="7348982"/>
            </a:xfrm>
            <a:custGeom>
              <a:avLst/>
              <a:gdLst/>
              <a:ahLst/>
              <a:cxnLst/>
              <a:rect r="r" b="b" t="t" l="l"/>
              <a:pathLst>
                <a:path h="7348982" w="11250422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11054461" y="0"/>
                  </a:lnTo>
                  <a:cubicBezTo>
                    <a:pt x="11162665" y="0"/>
                    <a:pt x="11250422" y="87757"/>
                    <a:pt x="11250422" y="195961"/>
                  </a:cubicBezTo>
                  <a:lnTo>
                    <a:pt x="11250422" y="7153021"/>
                  </a:lnTo>
                  <a:cubicBezTo>
                    <a:pt x="11250422" y="7261225"/>
                    <a:pt x="11162665" y="7348982"/>
                    <a:pt x="11054461" y="7348982"/>
                  </a:cubicBezTo>
                  <a:lnTo>
                    <a:pt x="195961" y="7348982"/>
                  </a:lnTo>
                  <a:cubicBezTo>
                    <a:pt x="87757" y="7349109"/>
                    <a:pt x="0" y="7261352"/>
                    <a:pt x="0" y="7153021"/>
                  </a:cubicBezTo>
                  <a:close/>
                </a:path>
              </a:pathLst>
            </a:custGeom>
            <a:solidFill>
              <a:srgbClr val="2B2B2B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4352544"/>
            <a:ext cx="7772400" cy="512064"/>
            <a:chOff x="0" y="0"/>
            <a:chExt cx="103632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63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EMPATHISE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901184"/>
            <a:ext cx="7772400" cy="822960"/>
            <a:chOff x="0" y="0"/>
            <a:chExt cx="103632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63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0363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 to the user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815584"/>
            <a:ext cx="7772400" cy="2468880"/>
            <a:chOff x="0" y="0"/>
            <a:chExt cx="10363200" cy="3291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63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41" r="0" b="-1134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52400"/>
              <a:ext cx="10363200" cy="3444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Talk to real people. Listen without assumptions. Understand their behaviours, emotions, and context, not what you think they need.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8047" y="8442703"/>
            <a:ext cx="7693657" cy="12697"/>
            <a:chOff x="0" y="0"/>
            <a:chExt cx="10258209" cy="169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58171" cy="16891"/>
            </a:xfrm>
            <a:custGeom>
              <a:avLst/>
              <a:gdLst/>
              <a:ahLst/>
              <a:cxnLst/>
              <a:rect r="r" b="b" t="t" l="l"/>
              <a:pathLst>
                <a:path h="16891" w="10258171">
                  <a:moveTo>
                    <a:pt x="0" y="0"/>
                  </a:moveTo>
                  <a:lnTo>
                    <a:pt x="1025817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83502" r="0" b="-11783727"/>
              </a:stretch>
            </a:blipFill>
            <a:ln w="12700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8595360"/>
            <a:ext cx="7772400" cy="640080"/>
            <a:chOff x="0" y="0"/>
            <a:chExt cx="1036320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63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363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777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Interviews · Observation · Shadowing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4183" y="4102103"/>
            <a:ext cx="8437883" cy="5511803"/>
            <a:chOff x="0" y="0"/>
            <a:chExt cx="11250511" cy="73490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50422" cy="7348982"/>
            </a:xfrm>
            <a:custGeom>
              <a:avLst/>
              <a:gdLst/>
              <a:ahLst/>
              <a:cxnLst/>
              <a:rect r="r" b="b" t="t" l="l"/>
              <a:pathLst>
                <a:path h="7348982" w="11250422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11054461" y="0"/>
                  </a:lnTo>
                  <a:cubicBezTo>
                    <a:pt x="11162665" y="0"/>
                    <a:pt x="11250422" y="87757"/>
                    <a:pt x="11250422" y="195961"/>
                  </a:cubicBezTo>
                  <a:lnTo>
                    <a:pt x="11250422" y="7153021"/>
                  </a:lnTo>
                  <a:cubicBezTo>
                    <a:pt x="11250422" y="7261225"/>
                    <a:pt x="11162665" y="7348982"/>
                    <a:pt x="11054461" y="7348982"/>
                  </a:cubicBezTo>
                  <a:lnTo>
                    <a:pt x="195961" y="7348982"/>
                  </a:lnTo>
                  <a:cubicBezTo>
                    <a:pt x="87757" y="7349109"/>
                    <a:pt x="0" y="7261352"/>
                    <a:pt x="0" y="71530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92640" y="4352544"/>
            <a:ext cx="7772400" cy="512064"/>
            <a:chOff x="0" y="0"/>
            <a:chExt cx="1036320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63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363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DEFINE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92640" y="4901184"/>
            <a:ext cx="7772400" cy="822960"/>
            <a:chOff x="0" y="0"/>
            <a:chExt cx="1036320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363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10363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Frame the problem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92640" y="5815584"/>
            <a:ext cx="7772400" cy="2468880"/>
            <a:chOff x="0" y="0"/>
            <a:chExt cx="10363200" cy="3291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63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41" r="0" b="-1134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52400"/>
              <a:ext cx="10363200" cy="3444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Synthesise what you heard into a clear, user-centred problem statement. This becomes the target everything else is aimed at.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86287" y="8442703"/>
            <a:ext cx="7693657" cy="12697"/>
            <a:chOff x="0" y="0"/>
            <a:chExt cx="10258209" cy="169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58171" cy="16891"/>
            </a:xfrm>
            <a:custGeom>
              <a:avLst/>
              <a:gdLst/>
              <a:ahLst/>
              <a:cxnLst/>
              <a:rect r="r" b="b" t="t" l="l"/>
              <a:pathLst>
                <a:path h="16891" w="10258171">
                  <a:moveTo>
                    <a:pt x="0" y="0"/>
                  </a:moveTo>
                  <a:lnTo>
                    <a:pt x="1025817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83502" r="0" b="-11783727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92640" y="8595360"/>
            <a:ext cx="7772400" cy="640080"/>
            <a:chOff x="0" y="0"/>
            <a:chExt cx="1036320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63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363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Personas · Problem statements · Insight clustering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631936" y="6309360"/>
            <a:ext cx="731520" cy="731520"/>
            <a:chOff x="0" y="0"/>
            <a:chExt cx="97536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CCCC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1097280"/>
            <a:ext cx="7315200" cy="3657600"/>
            <a:chOff x="0" y="0"/>
            <a:chExt cx="9753600" cy="487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90525"/>
              <a:ext cx="9753600" cy="526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39"/>
                </a:lnSpc>
              </a:pPr>
              <a:r>
                <a:rPr lang="en-US" sz="19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10+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4846320"/>
            <a:ext cx="8229600" cy="1828800"/>
            <a:chOff x="0" y="0"/>
            <a:chExt cx="10972800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97280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minutes wasted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circling for parking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6675120"/>
            <a:ext cx="8229600" cy="914400"/>
            <a:chOff x="0" y="0"/>
            <a:chExt cx="109728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972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a typical campus visit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31303" y="-12697"/>
            <a:ext cx="9169403" cy="10312403"/>
            <a:chOff x="0" y="0"/>
            <a:chExt cx="12225871" cy="13749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259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2225909">
                  <a:moveTo>
                    <a:pt x="0" y="0"/>
                  </a:moveTo>
                  <a:lnTo>
                    <a:pt x="12225909" y="0"/>
                  </a:lnTo>
                  <a:lnTo>
                    <a:pt x="122259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C1C1C"/>
            </a:solidFill>
            <a:ln w="25400" cap="sq">
              <a:solidFill>
                <a:srgbClr val="1C1C1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692640" y="731520"/>
            <a:ext cx="8046720" cy="822960"/>
            <a:chOff x="0" y="0"/>
            <a:chExt cx="1072896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728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92640" y="1645920"/>
            <a:ext cx="7863840" cy="2560320"/>
            <a:chOff x="0" y="0"/>
            <a:chExt cx="1048512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10485120" cy="3528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Parking at Wits is</a:t>
              </a:r>
            </a:p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unpredictable.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92640" y="4389120"/>
            <a:ext cx="7863840" cy="4572000"/>
            <a:chOff x="0" y="0"/>
            <a:chExt cx="10485120" cy="609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595" t="0" r="-2459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42875"/>
              <a:ext cx="10485120" cy="6238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way to know if a space exists</a:t>
              </a:r>
            </a:p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before you arrive.</a:t>
              </a:r>
            </a:p>
            <a:p>
              <a:pPr algn="l">
                <a:lnSpc>
                  <a:spcPts val="4367"/>
                </a:lnSpc>
              </a:pPr>
            </a:p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only find out by driving there.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974843" cy="10312403"/>
            <a:chOff x="0" y="0"/>
            <a:chExt cx="9299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365760"/>
            <a:ext cx="6400800" cy="1280160"/>
            <a:chOff x="0" y="0"/>
            <a:chExt cx="853440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— Problem Space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5760" y="1531620"/>
            <a:ext cx="6035040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INTERVIEW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QUESTIONS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85383" y="535943"/>
            <a:ext cx="10266683" cy="1086107"/>
            <a:chOff x="0" y="0"/>
            <a:chExt cx="13688911" cy="14481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88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688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3539088" y="0"/>
                  </a:lnTo>
                  <a:cubicBezTo>
                    <a:pt x="13621765" y="0"/>
                    <a:pt x="13688949" y="67056"/>
                    <a:pt x="13688949" y="149860"/>
                  </a:cubicBezTo>
                  <a:lnTo>
                    <a:pt x="13688949" y="1298321"/>
                  </a:lnTo>
                  <a:cubicBezTo>
                    <a:pt x="13688949" y="1380998"/>
                    <a:pt x="13621893" y="1448181"/>
                    <a:pt x="13539088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644384" y="804672"/>
            <a:ext cx="731520" cy="548640"/>
            <a:chOff x="0" y="0"/>
            <a:chExt cx="97536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75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21040" y="731520"/>
            <a:ext cx="9235440" cy="731520"/>
            <a:chOff x="0" y="0"/>
            <a:chExt cx="1231392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13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313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often do you struggle to find parking on arrival?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85383" y="1779527"/>
            <a:ext cx="10266683" cy="1086107"/>
            <a:chOff x="0" y="0"/>
            <a:chExt cx="13688911" cy="14481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88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688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3539088" y="0"/>
                  </a:lnTo>
                  <a:cubicBezTo>
                    <a:pt x="13621765" y="0"/>
                    <a:pt x="13688949" y="67056"/>
                    <a:pt x="13688949" y="149860"/>
                  </a:cubicBezTo>
                  <a:lnTo>
                    <a:pt x="13688949" y="1298321"/>
                  </a:lnTo>
                  <a:cubicBezTo>
                    <a:pt x="13688949" y="1380998"/>
                    <a:pt x="13621893" y="1448181"/>
                    <a:pt x="13539088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44384" y="2048256"/>
            <a:ext cx="731520" cy="548640"/>
            <a:chOff x="0" y="0"/>
            <a:chExt cx="9753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75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21040" y="1975104"/>
            <a:ext cx="9235440" cy="732179"/>
            <a:chOff x="0" y="0"/>
            <a:chExt cx="12313920" cy="9762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313920" cy="976238"/>
            </a:xfrm>
            <a:custGeom>
              <a:avLst/>
              <a:gdLst/>
              <a:ahLst/>
              <a:cxnLst/>
              <a:rect r="r" b="b" t="t" l="l"/>
              <a:pathLst>
                <a:path h="976238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22" r="0" b="-19573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313920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Walk me through the moment you turn onto campus, what decisions are you making?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85383" y="3023111"/>
            <a:ext cx="10266683" cy="1086107"/>
            <a:chOff x="0" y="0"/>
            <a:chExt cx="13688911" cy="14481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88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688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3539088" y="0"/>
                  </a:lnTo>
                  <a:cubicBezTo>
                    <a:pt x="13621765" y="0"/>
                    <a:pt x="13688949" y="67056"/>
                    <a:pt x="13688949" y="149860"/>
                  </a:cubicBezTo>
                  <a:lnTo>
                    <a:pt x="13688949" y="1298321"/>
                  </a:lnTo>
                  <a:cubicBezTo>
                    <a:pt x="13688949" y="1380998"/>
                    <a:pt x="13621893" y="1448181"/>
                    <a:pt x="13539088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44384" y="3291840"/>
            <a:ext cx="731520" cy="548640"/>
            <a:chOff x="0" y="0"/>
            <a:chExt cx="9753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75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321040" y="3218688"/>
            <a:ext cx="9235440" cy="731520"/>
            <a:chOff x="0" y="0"/>
            <a:chExt cx="1231392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313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2313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 you know where you'll park before you arrive, or figure it out en route?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85383" y="4266695"/>
            <a:ext cx="10266683" cy="1086107"/>
            <a:chOff x="0" y="0"/>
            <a:chExt cx="13688911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688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688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3539088" y="0"/>
                  </a:lnTo>
                  <a:cubicBezTo>
                    <a:pt x="13621765" y="0"/>
                    <a:pt x="13688949" y="67056"/>
                    <a:pt x="13688949" y="149860"/>
                  </a:cubicBezTo>
                  <a:lnTo>
                    <a:pt x="13688949" y="1298321"/>
                  </a:lnTo>
                  <a:cubicBezTo>
                    <a:pt x="13688949" y="1380998"/>
                    <a:pt x="13621893" y="1448181"/>
                    <a:pt x="13539088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644384" y="4535424"/>
            <a:ext cx="731520" cy="548640"/>
            <a:chOff x="0" y="0"/>
            <a:chExt cx="9753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75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321040" y="4462272"/>
            <a:ext cx="9235440" cy="731520"/>
            <a:chOff x="0" y="0"/>
            <a:chExt cx="1231392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313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2313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Once driving around campus, would you stop to check your phone?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85383" y="5510279"/>
            <a:ext cx="10266683" cy="1086107"/>
            <a:chOff x="0" y="0"/>
            <a:chExt cx="13688911" cy="14481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688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688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3539088" y="0"/>
                  </a:lnTo>
                  <a:cubicBezTo>
                    <a:pt x="13621765" y="0"/>
                    <a:pt x="13688949" y="67056"/>
                    <a:pt x="13688949" y="149860"/>
                  </a:cubicBezTo>
                  <a:lnTo>
                    <a:pt x="13688949" y="1298321"/>
                  </a:lnTo>
                  <a:cubicBezTo>
                    <a:pt x="13688949" y="1380998"/>
                    <a:pt x="13621893" y="1448181"/>
                    <a:pt x="13539088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644384" y="5779008"/>
            <a:ext cx="731520" cy="548640"/>
            <a:chOff x="0" y="0"/>
            <a:chExt cx="9753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75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321040" y="5705856"/>
            <a:ext cx="9235440" cy="731520"/>
            <a:chOff x="0" y="0"/>
            <a:chExt cx="1231392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313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2313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much time do you feel you waste on parking per visit?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485383" y="6753863"/>
            <a:ext cx="10266683" cy="1086107"/>
            <a:chOff x="0" y="0"/>
            <a:chExt cx="13688911" cy="144814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688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688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3539088" y="0"/>
                  </a:lnTo>
                  <a:cubicBezTo>
                    <a:pt x="13621765" y="0"/>
                    <a:pt x="13688949" y="67056"/>
                    <a:pt x="13688949" y="149860"/>
                  </a:cubicBezTo>
                  <a:lnTo>
                    <a:pt x="13688949" y="1298321"/>
                  </a:lnTo>
                  <a:cubicBezTo>
                    <a:pt x="13688949" y="1380998"/>
                    <a:pt x="13621893" y="1448181"/>
                    <a:pt x="13539088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644384" y="7022592"/>
            <a:ext cx="731520" cy="548640"/>
            <a:chOff x="0" y="0"/>
            <a:chExt cx="9753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75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321040" y="6949440"/>
            <a:ext cx="9235440" cy="731520"/>
            <a:chOff x="0" y="0"/>
            <a:chExt cx="1231392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313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2313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 you usually know ahead of time when you're coming to campus?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485383" y="7997447"/>
            <a:ext cx="10266683" cy="1086107"/>
            <a:chOff x="0" y="0"/>
            <a:chExt cx="13688911" cy="144814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688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3688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3539088" y="0"/>
                  </a:lnTo>
                  <a:cubicBezTo>
                    <a:pt x="13621765" y="0"/>
                    <a:pt x="13688949" y="67056"/>
                    <a:pt x="13688949" y="149860"/>
                  </a:cubicBezTo>
                  <a:lnTo>
                    <a:pt x="13688949" y="1298321"/>
                  </a:lnTo>
                  <a:cubicBezTo>
                    <a:pt x="13688949" y="1380998"/>
                    <a:pt x="13621893" y="1448181"/>
                    <a:pt x="13539088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644384" y="8266176"/>
            <a:ext cx="731520" cy="548640"/>
            <a:chOff x="0" y="0"/>
            <a:chExt cx="97536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75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999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321040" y="8193024"/>
            <a:ext cx="9235440" cy="731520"/>
            <a:chOff x="0" y="0"/>
            <a:chExt cx="12313920" cy="9753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313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2313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would you feel about car registration upfront vs. automatic plate recognition?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06549"/>
            </a:xfrm>
            <a:custGeom>
              <a:avLst/>
              <a:gdLst/>
              <a:ahLst/>
              <a:cxnLst/>
              <a:rect r="r" b="b" t="t" l="l"/>
              <a:pathLst>
                <a:path h="21065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USERS TOLD US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816103"/>
            <a:ext cx="8437883" cy="1525019"/>
            <a:chOff x="0" y="0"/>
            <a:chExt cx="11250511" cy="2033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1052175" y="0"/>
                  </a:lnTo>
                  <a:cubicBezTo>
                    <a:pt x="11161776" y="0"/>
                    <a:pt x="11250549" y="88773"/>
                    <a:pt x="11250549" y="198374"/>
                  </a:cubicBezTo>
                  <a:lnTo>
                    <a:pt x="11250549" y="1835023"/>
                  </a:lnTo>
                  <a:cubicBezTo>
                    <a:pt x="11250549" y="1944624"/>
                    <a:pt x="11161776" y="2033397"/>
                    <a:pt x="1105217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77824" y="2011680"/>
            <a:ext cx="7863840" cy="402336"/>
            <a:chOff x="0" y="0"/>
            <a:chExt cx="10485120" cy="5364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MOST USERS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7824" y="2340864"/>
            <a:ext cx="7863840" cy="512064"/>
            <a:chOff x="0" y="0"/>
            <a:chExt cx="1048512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48512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It's a nightmare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7824" y="2816352"/>
            <a:ext cx="7863840" cy="438912"/>
            <a:chOff x="0" y="0"/>
            <a:chExt cx="1048512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 10+ minutes just to find a space, depending entirely on arrival time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79943" y="1816103"/>
            <a:ext cx="8437883" cy="1525019"/>
            <a:chOff x="0" y="0"/>
            <a:chExt cx="11250511" cy="20333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1052175" y="0"/>
                  </a:lnTo>
                  <a:cubicBezTo>
                    <a:pt x="11161776" y="0"/>
                    <a:pt x="11250549" y="88773"/>
                    <a:pt x="11250549" y="198374"/>
                  </a:cubicBezTo>
                  <a:lnTo>
                    <a:pt x="11250549" y="1835023"/>
                  </a:lnTo>
                  <a:cubicBezTo>
                    <a:pt x="11250549" y="1944624"/>
                    <a:pt x="11161776" y="2033397"/>
                    <a:pt x="1105217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21824" y="2011680"/>
            <a:ext cx="7863840" cy="402336"/>
            <a:chOff x="0" y="0"/>
            <a:chExt cx="1048512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PAIN POINT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21824" y="2340864"/>
            <a:ext cx="7863840" cy="512064"/>
            <a:chOff x="0" y="0"/>
            <a:chExt cx="1048512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048512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phone while driving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21824" y="2816352"/>
            <a:ext cx="7863840" cy="665169"/>
            <a:chOff x="0" y="0"/>
            <a:chExt cx="10485120" cy="8868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5120" cy="886892"/>
            </a:xfrm>
            <a:custGeom>
              <a:avLst/>
              <a:gdLst/>
              <a:ahLst/>
              <a:cxnLst/>
              <a:rect r="r" b="b" t="t" l="l"/>
              <a:pathLst>
                <a:path h="8868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86892"/>
                  </a:lnTo>
                  <a:lnTo>
                    <a:pt x="0" y="886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65" r="0" b="-1633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485120" cy="924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Uncomfortable checking their phone while already circling, can't act on info that way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5943" y="3571751"/>
            <a:ext cx="8437883" cy="1525019"/>
            <a:chOff x="0" y="0"/>
            <a:chExt cx="11250511" cy="20333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1052175" y="0"/>
                  </a:lnTo>
                  <a:cubicBezTo>
                    <a:pt x="11161776" y="0"/>
                    <a:pt x="11250549" y="88773"/>
                    <a:pt x="11250549" y="198374"/>
                  </a:cubicBezTo>
                  <a:lnTo>
                    <a:pt x="11250549" y="1835023"/>
                  </a:lnTo>
                  <a:cubicBezTo>
                    <a:pt x="11250549" y="1944624"/>
                    <a:pt x="11161776" y="2033397"/>
                    <a:pt x="1105217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77824" y="3767328"/>
            <a:ext cx="7863840" cy="402336"/>
            <a:chOff x="0" y="0"/>
            <a:chExt cx="10485120" cy="5364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COMFORT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7824" y="4096512"/>
            <a:ext cx="7863840" cy="512064"/>
            <a:chOff x="0" y="0"/>
            <a:chExt cx="1048512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048512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OK with cameras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7824" y="4572000"/>
            <a:ext cx="7863840" cy="665169"/>
            <a:chOff x="0" y="0"/>
            <a:chExt cx="10485120" cy="8868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85120" cy="886892"/>
            </a:xfrm>
            <a:custGeom>
              <a:avLst/>
              <a:gdLst/>
              <a:ahLst/>
              <a:cxnLst/>
              <a:rect r="r" b="b" t="t" l="l"/>
              <a:pathLst>
                <a:path h="8868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86892"/>
                  </a:lnTo>
                  <a:lnTo>
                    <a:pt x="0" y="886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65" r="0" b="-1633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485120" cy="924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 to cameras watching their cars in the lot, plate recognition feels acceptable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79943" y="3571751"/>
            <a:ext cx="8437883" cy="1525019"/>
            <a:chOff x="0" y="0"/>
            <a:chExt cx="11250511" cy="20333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1052175" y="0"/>
                  </a:lnTo>
                  <a:cubicBezTo>
                    <a:pt x="11161776" y="0"/>
                    <a:pt x="11250549" y="88773"/>
                    <a:pt x="11250549" y="198374"/>
                  </a:cubicBezTo>
                  <a:lnTo>
                    <a:pt x="11250549" y="1835023"/>
                  </a:lnTo>
                  <a:cubicBezTo>
                    <a:pt x="11250549" y="1944624"/>
                    <a:pt x="11161776" y="2033397"/>
                    <a:pt x="1105217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021824" y="3767328"/>
            <a:ext cx="7863840" cy="402336"/>
            <a:chOff x="0" y="0"/>
            <a:chExt cx="10485120" cy="5364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MINORITY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021824" y="4096512"/>
            <a:ext cx="7863840" cy="512064"/>
            <a:chOff x="0" y="0"/>
            <a:chExt cx="1048512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048512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 everyone suffers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021824" y="4572000"/>
            <a:ext cx="7863840" cy="665169"/>
            <a:chOff x="0" y="0"/>
            <a:chExt cx="10485120" cy="8868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85120" cy="886892"/>
            </a:xfrm>
            <a:custGeom>
              <a:avLst/>
              <a:gdLst/>
              <a:ahLst/>
              <a:cxnLst/>
              <a:rect r="r" b="b" t="t" l="l"/>
              <a:pathLst>
                <a:path h="8868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86892"/>
                  </a:lnTo>
                  <a:lnTo>
                    <a:pt x="0" y="886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365" r="0" b="-1633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485120" cy="924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A5A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small number arrive early &amp; aren't on campus often, they consistently find parking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107943" y="5327399"/>
            <a:ext cx="8255003" cy="1525019"/>
            <a:chOff x="0" y="0"/>
            <a:chExt cx="11006671" cy="203335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70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006709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10808335" y="0"/>
                  </a:lnTo>
                  <a:cubicBezTo>
                    <a:pt x="10917936" y="0"/>
                    <a:pt x="11006709" y="88773"/>
                    <a:pt x="11006709" y="198374"/>
                  </a:cubicBezTo>
                  <a:lnTo>
                    <a:pt x="11006709" y="1835023"/>
                  </a:lnTo>
                  <a:cubicBezTo>
                    <a:pt x="11006709" y="1944624"/>
                    <a:pt x="10917936" y="2033397"/>
                    <a:pt x="10808335" y="2033397"/>
                  </a:cubicBezTo>
                  <a:lnTo>
                    <a:pt x="198374" y="2033397"/>
                  </a:lnTo>
                  <a:cubicBezTo>
                    <a:pt x="88773" y="2033397"/>
                    <a:pt x="0" y="1944497"/>
                    <a:pt x="0" y="1835023"/>
                  </a:cubicBez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449824" y="5522976"/>
            <a:ext cx="7680960" cy="402336"/>
            <a:chOff x="0" y="0"/>
            <a:chExt cx="1024128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UNIVERSAL PAIN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49824" y="5852160"/>
            <a:ext cx="7680960" cy="512064"/>
            <a:chOff x="0" y="0"/>
            <a:chExt cx="102412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02412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Pre-registration = nightmare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449824" y="6327648"/>
            <a:ext cx="7680960" cy="438912"/>
            <a:chOff x="0" y="0"/>
            <a:chExt cx="1024128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single participant agreed: pre-registering parking is painful and unacceptable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8255003" cy="10312403"/>
            <a:chOff x="0" y="0"/>
            <a:chExt cx="110066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C1C1C"/>
            </a:solidFill>
            <a:ln w="25400" cap="sq">
              <a:solidFill>
                <a:srgbClr val="1C1C1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640080"/>
            <a:ext cx="6949440" cy="640080"/>
            <a:chOff x="0" y="0"/>
            <a:chExt cx="9265920" cy="853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2659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PERSONA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371600"/>
            <a:ext cx="6949440" cy="3657600"/>
            <a:chOff x="0" y="0"/>
            <a:chExt cx="9265920" cy="4876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659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9265920" cy="500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Commuter</a:t>
              </a:r>
            </a:p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5212080"/>
            <a:ext cx="7132320" cy="2194560"/>
            <a:chOff x="0" y="0"/>
            <a:chExt cx="9509760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9509760" cy="3078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Drives to campus 3–5×/week.</a:t>
              </a:r>
            </a:p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Schedule varies and arrival time is unpredictable.</a:t>
              </a:r>
            </a:p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Can't afford to be 30 min late to a lecture.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7589520"/>
            <a:ext cx="6949440" cy="548640"/>
            <a:chOff x="0" y="0"/>
            <a:chExt cx="92659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265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NEEDS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8640" y="8138160"/>
            <a:ext cx="6949440" cy="914400"/>
            <a:chOff x="0" y="0"/>
            <a:chExt cx="926592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2659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 if parking is available BEFORE leaving home.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48423" y="901703"/>
            <a:ext cx="8803643" cy="2494283"/>
            <a:chOff x="0" y="0"/>
            <a:chExt cx="11738191" cy="33257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38229" cy="3325749"/>
            </a:xfrm>
            <a:custGeom>
              <a:avLst/>
              <a:gdLst/>
              <a:ahLst/>
              <a:cxnLst/>
              <a:rect r="r" b="b" t="t" l="l"/>
              <a:pathLst>
                <a:path h="3325749" w="11738229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1541125" y="0"/>
                  </a:lnTo>
                  <a:cubicBezTo>
                    <a:pt x="11649964" y="0"/>
                    <a:pt x="11738229" y="88265"/>
                    <a:pt x="11738229" y="197104"/>
                  </a:cubicBezTo>
                  <a:lnTo>
                    <a:pt x="11738229" y="3128645"/>
                  </a:lnTo>
                  <a:cubicBezTo>
                    <a:pt x="11738229" y="3237484"/>
                    <a:pt x="11649964" y="3325749"/>
                    <a:pt x="11541125" y="3325749"/>
                  </a:cubicBezTo>
                  <a:lnTo>
                    <a:pt x="197104" y="3325749"/>
                  </a:lnTo>
                  <a:cubicBezTo>
                    <a:pt x="88265" y="3325749"/>
                    <a:pt x="0" y="3237484"/>
                    <a:pt x="0" y="3128645"/>
                  </a:cubicBezTo>
                  <a:close/>
                </a:path>
              </a:pathLst>
            </a:custGeom>
            <a:solidFill>
              <a:srgbClr val="22222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26880" y="1097280"/>
            <a:ext cx="8046720" cy="512064"/>
            <a:chOff x="0" y="0"/>
            <a:chExt cx="10728960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728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26880" y="1609344"/>
            <a:ext cx="8046720" cy="1554480"/>
            <a:chOff x="0" y="0"/>
            <a:chExt cx="10728960" cy="2072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28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63" r="0" b="-508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42875"/>
              <a:ext cx="10728960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Park near their building with confidence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48423" y="3827783"/>
            <a:ext cx="8803643" cy="2494283"/>
            <a:chOff x="0" y="0"/>
            <a:chExt cx="11738191" cy="33257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38229" cy="3325749"/>
            </a:xfrm>
            <a:custGeom>
              <a:avLst/>
              <a:gdLst/>
              <a:ahLst/>
              <a:cxnLst/>
              <a:rect r="r" b="b" t="t" l="l"/>
              <a:pathLst>
                <a:path h="3325749" w="11738229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1541125" y="0"/>
                  </a:lnTo>
                  <a:cubicBezTo>
                    <a:pt x="11649964" y="0"/>
                    <a:pt x="11738229" y="88265"/>
                    <a:pt x="11738229" y="197104"/>
                  </a:cubicBezTo>
                  <a:lnTo>
                    <a:pt x="11738229" y="3128645"/>
                  </a:lnTo>
                  <a:cubicBezTo>
                    <a:pt x="11738229" y="3237484"/>
                    <a:pt x="11649964" y="3325749"/>
                    <a:pt x="11541125" y="3325749"/>
                  </a:cubicBezTo>
                  <a:lnTo>
                    <a:pt x="197104" y="3325749"/>
                  </a:lnTo>
                  <a:cubicBezTo>
                    <a:pt x="88265" y="3325749"/>
                    <a:pt x="0" y="3237484"/>
                    <a:pt x="0" y="3128645"/>
                  </a:cubicBezTo>
                  <a:close/>
                </a:path>
              </a:pathLst>
            </a:custGeom>
            <a:solidFill>
              <a:srgbClr val="22222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326880" y="4023360"/>
            <a:ext cx="8046720" cy="512064"/>
            <a:chOff x="0" y="0"/>
            <a:chExt cx="1072896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728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FRUSTRATION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26880" y="4535424"/>
            <a:ext cx="8046720" cy="1554480"/>
            <a:chOff x="0" y="0"/>
            <a:chExt cx="10728960" cy="2072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28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63" r="0" b="-5086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42875"/>
              <a:ext cx="10728960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Arriving to find zero spaces after 20 min of driving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48423" y="6753863"/>
            <a:ext cx="8803643" cy="2494283"/>
            <a:chOff x="0" y="0"/>
            <a:chExt cx="11738191" cy="33257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38229" cy="3325749"/>
            </a:xfrm>
            <a:custGeom>
              <a:avLst/>
              <a:gdLst/>
              <a:ahLst/>
              <a:cxnLst/>
              <a:rect r="r" b="b" t="t" l="l"/>
              <a:pathLst>
                <a:path h="3325749" w="11738229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11541125" y="0"/>
                  </a:lnTo>
                  <a:cubicBezTo>
                    <a:pt x="11649964" y="0"/>
                    <a:pt x="11738229" y="88265"/>
                    <a:pt x="11738229" y="197104"/>
                  </a:cubicBezTo>
                  <a:lnTo>
                    <a:pt x="11738229" y="3128645"/>
                  </a:lnTo>
                  <a:cubicBezTo>
                    <a:pt x="11738229" y="3237484"/>
                    <a:pt x="11649964" y="3325749"/>
                    <a:pt x="11541125" y="3325749"/>
                  </a:cubicBezTo>
                  <a:lnTo>
                    <a:pt x="197104" y="3325749"/>
                  </a:lnTo>
                  <a:cubicBezTo>
                    <a:pt x="88265" y="3325749"/>
                    <a:pt x="0" y="3237484"/>
                    <a:pt x="0" y="3128645"/>
                  </a:cubicBezTo>
                  <a:close/>
                </a:path>
              </a:pathLst>
            </a:custGeom>
            <a:solidFill>
              <a:srgbClr val="222222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326880" y="6949440"/>
            <a:ext cx="8046720" cy="512064"/>
            <a:chOff x="0" y="0"/>
            <a:chExt cx="1072896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728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888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BEHAVIOUR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26880" y="7461504"/>
            <a:ext cx="8046720" cy="1554480"/>
            <a:chOff x="0" y="0"/>
            <a:chExt cx="10728960" cy="2072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28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63" r="0" b="-5086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42875"/>
              <a:ext cx="10728960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Won't check phone mid-drive and needs info before they leave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80000">
            <a:off x="13154663" y="-74421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1006709"/>
                  </a:lnTo>
                  <a:lnTo>
                    <a:pt x="0" y="11006709"/>
                  </a:lnTo>
                  <a:close/>
                </a:path>
              </a:pathLst>
            </a:custGeom>
            <a:solidFill>
              <a:srgbClr val="2B2B2B">
                <a:alpha val="3568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600000">
            <a:off x="14983463" y="4559303"/>
            <a:ext cx="5877563" cy="5877563"/>
            <a:chOff x="0" y="0"/>
            <a:chExt cx="7836751" cy="78367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36789" cy="7836789"/>
            </a:xfrm>
            <a:custGeom>
              <a:avLst/>
              <a:gdLst/>
              <a:ahLst/>
              <a:cxnLst/>
              <a:rect r="r" b="b" t="t" l="l"/>
              <a:pathLst>
                <a:path h="7836789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7836789"/>
                  </a:lnTo>
                  <a:lnTo>
                    <a:pt x="0" y="7836789"/>
                  </a:lnTo>
                  <a:close/>
                </a:path>
              </a:pathLst>
            </a:custGeom>
            <a:solidFill>
              <a:srgbClr val="5A5A5A">
                <a:alpha val="1568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926080"/>
            <a:ext cx="11887200" cy="3291840"/>
            <a:chOff x="0" y="0"/>
            <a:chExt cx="15849600" cy="4389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49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71450"/>
              <a:ext cx="15849600" cy="456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6400800"/>
            <a:ext cx="10972800" cy="1280160"/>
            <a:chOff x="0" y="0"/>
            <a:chExt cx="146304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6304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Thinking: Ideate · Generate · Converge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8620763" cy="10312403"/>
            <a:chOff x="0" y="0"/>
            <a:chExt cx="114943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9438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C1C1C"/>
            </a:solidFill>
            <a:ln w="25400" cap="sq">
              <a:solidFill>
                <a:srgbClr val="1C1C1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640080"/>
            <a:ext cx="7498080" cy="548640"/>
            <a:chOff x="0" y="0"/>
            <a:chExt cx="999744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PROBLEM SPACE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316736"/>
            <a:ext cx="7498080" cy="2011680"/>
            <a:chOff x="0" y="0"/>
            <a:chExt cx="999744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97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9997440" cy="2815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</a:t>
              </a:r>
            </a:p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3553463"/>
            <a:ext cx="7523483" cy="1031243"/>
            <a:chOff x="0" y="0"/>
            <a:chExt cx="10031311" cy="1374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3122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031223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9906254" y="0"/>
                  </a:lnTo>
                  <a:cubicBezTo>
                    <a:pt x="9975342" y="0"/>
                    <a:pt x="10031223" y="56007"/>
                    <a:pt x="10031223" y="124968"/>
                  </a:cubicBezTo>
                  <a:lnTo>
                    <a:pt x="10031223" y="1249934"/>
                  </a:lnTo>
                  <a:cubicBezTo>
                    <a:pt x="10031223" y="1319022"/>
                    <a:pt x="9975215" y="1374902"/>
                    <a:pt x="99062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252525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3785616"/>
            <a:ext cx="6949440" cy="585216"/>
            <a:chOff x="0" y="0"/>
            <a:chExt cx="926592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65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 users can't find parking. 10+ min wasted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5943" y="4760471"/>
            <a:ext cx="7523483" cy="1031243"/>
            <a:chOff x="0" y="0"/>
            <a:chExt cx="10031311" cy="1374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3122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031223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9906254" y="0"/>
                  </a:lnTo>
                  <a:cubicBezTo>
                    <a:pt x="9975342" y="0"/>
                    <a:pt x="10031223" y="56007"/>
                    <a:pt x="10031223" y="124968"/>
                  </a:cubicBezTo>
                  <a:lnTo>
                    <a:pt x="10031223" y="1249934"/>
                  </a:lnTo>
                  <a:cubicBezTo>
                    <a:pt x="10031223" y="1319022"/>
                    <a:pt x="9975215" y="1374902"/>
                    <a:pt x="99062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252525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4992624"/>
            <a:ext cx="6949440" cy="585216"/>
            <a:chOff x="0" y="0"/>
            <a:chExt cx="926592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265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Decisions happen before the user leaves home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5943" y="5967479"/>
            <a:ext cx="7523483" cy="1031243"/>
            <a:chOff x="0" y="0"/>
            <a:chExt cx="10031311" cy="137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3122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031223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9906254" y="0"/>
                  </a:lnTo>
                  <a:cubicBezTo>
                    <a:pt x="9975342" y="0"/>
                    <a:pt x="10031223" y="56007"/>
                    <a:pt x="10031223" y="124968"/>
                  </a:cubicBezTo>
                  <a:lnTo>
                    <a:pt x="10031223" y="1249934"/>
                  </a:lnTo>
                  <a:cubicBezTo>
                    <a:pt x="10031223" y="1319022"/>
                    <a:pt x="9975215" y="1374902"/>
                    <a:pt x="99062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252525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6199632"/>
            <a:ext cx="6949440" cy="585216"/>
            <a:chOff x="0" y="0"/>
            <a:chExt cx="926592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265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one will check a phone while already driving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5943" y="7174487"/>
            <a:ext cx="7523483" cy="1031243"/>
            <a:chOff x="0" y="0"/>
            <a:chExt cx="10031311" cy="1374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3122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031223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9906254" y="0"/>
                  </a:lnTo>
                  <a:cubicBezTo>
                    <a:pt x="9975342" y="0"/>
                    <a:pt x="10031223" y="56007"/>
                    <a:pt x="10031223" y="124968"/>
                  </a:cubicBezTo>
                  <a:lnTo>
                    <a:pt x="10031223" y="1249934"/>
                  </a:lnTo>
                  <a:cubicBezTo>
                    <a:pt x="10031223" y="1319022"/>
                    <a:pt x="9975215" y="1374902"/>
                    <a:pt x="99062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252525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7406640"/>
            <a:ext cx="6949440" cy="585216"/>
            <a:chOff x="0" y="0"/>
            <a:chExt cx="926592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265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Pre-registration is universally hated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35943" y="8381495"/>
            <a:ext cx="7523483" cy="1031243"/>
            <a:chOff x="0" y="0"/>
            <a:chExt cx="10031311" cy="1374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31223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031223">
                  <a:moveTo>
                    <a:pt x="0" y="124968"/>
                  </a:moveTo>
                  <a:cubicBezTo>
                    <a:pt x="0" y="56007"/>
                    <a:pt x="56007" y="0"/>
                    <a:pt x="124968" y="0"/>
                  </a:cubicBezTo>
                  <a:lnTo>
                    <a:pt x="9906254" y="0"/>
                  </a:lnTo>
                  <a:cubicBezTo>
                    <a:pt x="9975342" y="0"/>
                    <a:pt x="10031223" y="56007"/>
                    <a:pt x="10031223" y="124968"/>
                  </a:cubicBezTo>
                  <a:lnTo>
                    <a:pt x="10031223" y="1249934"/>
                  </a:lnTo>
                  <a:cubicBezTo>
                    <a:pt x="10031223" y="1319022"/>
                    <a:pt x="9975215" y="1374902"/>
                    <a:pt x="9906254" y="1374902"/>
                  </a:cubicBezTo>
                  <a:lnTo>
                    <a:pt x="124968" y="1374902"/>
                  </a:lnTo>
                  <a:cubicBezTo>
                    <a:pt x="55880" y="1374902"/>
                    <a:pt x="0" y="1318895"/>
                    <a:pt x="0" y="1249934"/>
                  </a:cubicBezTo>
                  <a:close/>
                </a:path>
              </a:pathLst>
            </a:custGeom>
            <a:solidFill>
              <a:srgbClr val="252525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8613648"/>
            <a:ext cx="6949440" cy="585216"/>
            <a:chOff x="0" y="0"/>
            <a:chExt cx="926592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265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Cameras feel acceptable to users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89413" y="4820917"/>
            <a:ext cx="709165" cy="50797"/>
            <a:chOff x="0" y="0"/>
            <a:chExt cx="945553" cy="677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5515" cy="67691"/>
            </a:xfrm>
            <a:custGeom>
              <a:avLst/>
              <a:gdLst/>
              <a:ahLst/>
              <a:cxnLst/>
              <a:rect r="r" b="b" t="t" l="l"/>
              <a:pathLst>
                <a:path h="67691" w="945515">
                  <a:moveTo>
                    <a:pt x="0" y="0"/>
                  </a:moveTo>
                  <a:lnTo>
                    <a:pt x="945515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22151" r="-4" b="-222208"/>
              </a:stretch>
            </a:blipFill>
            <a:ln w="508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741664" y="4535424"/>
            <a:ext cx="822960" cy="640080"/>
            <a:chOff x="0" y="0"/>
            <a:chExt cx="109728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09728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92640" y="640080"/>
            <a:ext cx="8046720" cy="548640"/>
            <a:chOff x="0" y="0"/>
            <a:chExt cx="1072896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728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INTO SOLUTION SPACE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92640" y="1316736"/>
            <a:ext cx="8046720" cy="2011680"/>
            <a:chOff x="0" y="0"/>
            <a:chExt cx="10728960" cy="2682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33350"/>
              <a:ext cx="10728960" cy="2815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we</a:t>
              </a:r>
            </a:p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ideate.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92640" y="3621024"/>
            <a:ext cx="8046720" cy="5120640"/>
            <a:chOff x="0" y="0"/>
            <a:chExt cx="10728960" cy="6827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00025"/>
              <a:ext cx="10728960" cy="702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solution space is where we stop describing the problem and start generating ideas.</a:t>
              </a:r>
            </a:p>
            <a:p>
              <a:pPr algn="l">
                <a:lnSpc>
                  <a:spcPts val="4680"/>
                </a:lnSpc>
              </a:pP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idea is off the table yet.</a:t>
              </a:r>
            </a:p>
            <a:p>
              <a:pPr algn="l">
                <a:lnSpc>
                  <a:spcPts val="4680"/>
                </a:lnSpc>
              </a:pPr>
              <a:r>
                <a:rPr lang="en-US" sz="2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goal is quantity and range, then we converge.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92640" y="8869680"/>
            <a:ext cx="8046720" cy="731520"/>
            <a:chOff x="0" y="0"/>
            <a:chExt cx="1072896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728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5555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Ideate  →  Prototype  →  Test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974843" cy="10312403"/>
            <a:chOff x="0" y="0"/>
            <a:chExt cx="9299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365760"/>
            <a:ext cx="6400800" cy="1280160"/>
            <a:chOff x="0" y="0"/>
            <a:chExt cx="853440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— Solution Space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5760" y="1531620"/>
            <a:ext cx="6035040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MIGHT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57200" y="6400800"/>
            <a:ext cx="6035040" cy="2377440"/>
            <a:chOff x="0" y="0"/>
            <a:chExt cx="8046720" cy="3169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467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t="0" r="-54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8046720" cy="3312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6"/>
                </a:lnSpc>
              </a:pPr>
              <a:r>
                <a:rPr lang="en-US" sz="22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HMW framework turns</a:t>
              </a:r>
            </a:p>
            <a:p>
              <a:pPr algn="l">
                <a:lnSpc>
                  <a:spcPts val="3696"/>
                </a:lnSpc>
              </a:pPr>
              <a:r>
                <a:rPr lang="en-US" sz="22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pain points into</a:t>
              </a:r>
            </a:p>
            <a:p>
              <a:pPr algn="l">
                <a:lnSpc>
                  <a:spcPts val="3696"/>
                </a:lnSpc>
              </a:pPr>
              <a:r>
                <a:rPr lang="en-US" sz="22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opportunities.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85383" y="389639"/>
            <a:ext cx="10266683" cy="1707899"/>
            <a:chOff x="0" y="0"/>
            <a:chExt cx="13688911" cy="2277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88822" cy="2277110"/>
            </a:xfrm>
            <a:custGeom>
              <a:avLst/>
              <a:gdLst/>
              <a:ahLst/>
              <a:cxnLst/>
              <a:rect r="r" b="b" t="t" l="l"/>
              <a:pathLst>
                <a:path h="2277110" w="13688822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13515594" y="0"/>
                  </a:lnTo>
                  <a:cubicBezTo>
                    <a:pt x="13611352" y="0"/>
                    <a:pt x="13688822" y="77597"/>
                    <a:pt x="13688822" y="173228"/>
                  </a:cubicBezTo>
                  <a:lnTo>
                    <a:pt x="13688822" y="2103882"/>
                  </a:lnTo>
                  <a:cubicBezTo>
                    <a:pt x="13688822" y="2199640"/>
                    <a:pt x="13611225" y="2277110"/>
                    <a:pt x="1351559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717536" y="566928"/>
            <a:ext cx="9509760" cy="402336"/>
            <a:chOff x="0" y="0"/>
            <a:chExt cx="12679680" cy="5364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10+ min wasted circling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17536" y="950976"/>
            <a:ext cx="9509760" cy="987552"/>
            <a:chOff x="0" y="0"/>
            <a:chExt cx="12679680" cy="13167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79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33" r="0" b="-1376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2679680" cy="1411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might we tell users if parking is available before they leave home?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85383" y="2291591"/>
            <a:ext cx="10266683" cy="1707899"/>
            <a:chOff x="0" y="0"/>
            <a:chExt cx="13688911" cy="22771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88822" cy="2277110"/>
            </a:xfrm>
            <a:custGeom>
              <a:avLst/>
              <a:gdLst/>
              <a:ahLst/>
              <a:cxnLst/>
              <a:rect r="r" b="b" t="t" l="l"/>
              <a:pathLst>
                <a:path h="2277110" w="13688822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13515594" y="0"/>
                  </a:lnTo>
                  <a:cubicBezTo>
                    <a:pt x="13611352" y="0"/>
                    <a:pt x="13688822" y="77597"/>
                    <a:pt x="13688822" y="173228"/>
                  </a:cubicBezTo>
                  <a:lnTo>
                    <a:pt x="13688822" y="2103882"/>
                  </a:lnTo>
                  <a:cubicBezTo>
                    <a:pt x="13688822" y="2199640"/>
                    <a:pt x="13611225" y="2277110"/>
                    <a:pt x="1351559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717536" y="2468880"/>
            <a:ext cx="9509760" cy="402336"/>
            <a:chOff x="0" y="0"/>
            <a:chExt cx="12679680" cy="5364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No phone while driving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17536" y="2852928"/>
            <a:ext cx="9509760" cy="987552"/>
            <a:chOff x="0" y="0"/>
            <a:chExt cx="12679680" cy="13167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79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33" r="0" b="-13763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2679680" cy="1411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might we move the parking decision to before the journey starts?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85383" y="4193543"/>
            <a:ext cx="10266683" cy="1707899"/>
            <a:chOff x="0" y="0"/>
            <a:chExt cx="13688911" cy="22771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688822" cy="2277110"/>
            </a:xfrm>
            <a:custGeom>
              <a:avLst/>
              <a:gdLst/>
              <a:ahLst/>
              <a:cxnLst/>
              <a:rect r="r" b="b" t="t" l="l"/>
              <a:pathLst>
                <a:path h="2277110" w="13688822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13515594" y="0"/>
                  </a:lnTo>
                  <a:cubicBezTo>
                    <a:pt x="13611352" y="0"/>
                    <a:pt x="13688822" y="77597"/>
                    <a:pt x="13688822" y="173228"/>
                  </a:cubicBezTo>
                  <a:lnTo>
                    <a:pt x="13688822" y="2103882"/>
                  </a:lnTo>
                  <a:cubicBezTo>
                    <a:pt x="13688822" y="2199640"/>
                    <a:pt x="13611225" y="2277110"/>
                    <a:pt x="1351559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717536" y="4370832"/>
            <a:ext cx="9509760" cy="402336"/>
            <a:chOff x="0" y="0"/>
            <a:chExt cx="1267968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Pre-registration hated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717536" y="4754880"/>
            <a:ext cx="9509760" cy="987552"/>
            <a:chOff x="0" y="0"/>
            <a:chExt cx="12679680" cy="13167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679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33" r="0" b="-1376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12679680" cy="1411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might we identify a car without requiring any effort from the driver?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85383" y="6095495"/>
            <a:ext cx="10266683" cy="1707899"/>
            <a:chOff x="0" y="0"/>
            <a:chExt cx="13688911" cy="22771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88822" cy="2277110"/>
            </a:xfrm>
            <a:custGeom>
              <a:avLst/>
              <a:gdLst/>
              <a:ahLst/>
              <a:cxnLst/>
              <a:rect r="r" b="b" t="t" l="l"/>
              <a:pathLst>
                <a:path h="2277110" w="13688822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13515594" y="0"/>
                  </a:lnTo>
                  <a:cubicBezTo>
                    <a:pt x="13611352" y="0"/>
                    <a:pt x="13688822" y="77597"/>
                    <a:pt x="13688822" y="173228"/>
                  </a:cubicBezTo>
                  <a:lnTo>
                    <a:pt x="13688822" y="2103882"/>
                  </a:lnTo>
                  <a:cubicBezTo>
                    <a:pt x="13688822" y="2199640"/>
                    <a:pt x="13611225" y="2277110"/>
                    <a:pt x="1351559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717536" y="6272784"/>
            <a:ext cx="9509760" cy="402336"/>
            <a:chOff x="0" y="0"/>
            <a:chExt cx="12679680" cy="5364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Cameras feel OK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17536" y="6656832"/>
            <a:ext cx="9509760" cy="987552"/>
            <a:chOff x="0" y="0"/>
            <a:chExt cx="12679680" cy="1316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679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33" r="0" b="-13763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12679680" cy="1411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might we use passive sensing so drivers never have to interact with the system?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485383" y="7997447"/>
            <a:ext cx="10266683" cy="1707899"/>
            <a:chOff x="0" y="0"/>
            <a:chExt cx="13688911" cy="22771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688822" cy="2277110"/>
            </a:xfrm>
            <a:custGeom>
              <a:avLst/>
              <a:gdLst/>
              <a:ahLst/>
              <a:cxnLst/>
              <a:rect r="r" b="b" t="t" l="l"/>
              <a:pathLst>
                <a:path h="2277110" w="13688822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13515594" y="0"/>
                  </a:lnTo>
                  <a:cubicBezTo>
                    <a:pt x="13611352" y="0"/>
                    <a:pt x="13688822" y="77597"/>
                    <a:pt x="13688822" y="173228"/>
                  </a:cubicBezTo>
                  <a:lnTo>
                    <a:pt x="13688822" y="2103882"/>
                  </a:lnTo>
                  <a:cubicBezTo>
                    <a:pt x="13688822" y="2199640"/>
                    <a:pt x="13611225" y="2277110"/>
                    <a:pt x="1351559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717536" y="8174736"/>
            <a:ext cx="9509760" cy="402336"/>
            <a:chOff x="0" y="0"/>
            <a:chExt cx="12679680" cy="5364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679680" cy="536448"/>
            </a:xfrm>
            <a:custGeom>
              <a:avLst/>
              <a:gdLst/>
              <a:ahLst/>
              <a:cxnLst/>
              <a:rect r="r" b="b" t="t" l="l"/>
              <a:pathLst>
                <a:path h="536448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555" r="0" b="-4105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2679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INSIGHT: Early arrivals always find parking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717536" y="8558784"/>
            <a:ext cx="9509760" cy="987552"/>
            <a:chOff x="0" y="0"/>
            <a:chExt cx="12679680" cy="1316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679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33" r="0" b="-1376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12679680" cy="1411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might we give late arrivals the same confidence that early arrivals have?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06549"/>
            </a:xfrm>
            <a:custGeom>
              <a:avLst/>
              <a:gdLst/>
              <a:ahLst/>
              <a:cxnLst/>
              <a:rect r="r" b="b" t="t" l="l"/>
              <a:pathLst>
                <a:path h="21065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IDEATION — GOING WIDE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682496"/>
            <a:ext cx="16824960" cy="548640"/>
            <a:chOff x="0" y="0"/>
            <a:chExt cx="2243328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ideas considered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2456183"/>
            <a:ext cx="5328923" cy="7157723"/>
            <a:chOff x="0" y="0"/>
            <a:chExt cx="7105231" cy="95436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05396" cy="9543796"/>
            </a:xfrm>
            <a:custGeom>
              <a:avLst/>
              <a:gdLst/>
              <a:ahLst/>
              <a:cxnLst/>
              <a:rect r="r" b="b" t="t" l="l"/>
              <a:pathLst>
                <a:path h="9543796" w="710539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6909308" y="0"/>
                  </a:lnTo>
                  <a:cubicBezTo>
                    <a:pt x="7017512" y="0"/>
                    <a:pt x="7105396" y="87757"/>
                    <a:pt x="7105396" y="196088"/>
                  </a:cubicBezTo>
                  <a:lnTo>
                    <a:pt x="7105396" y="9347708"/>
                  </a:lnTo>
                  <a:cubicBezTo>
                    <a:pt x="7105396" y="9455912"/>
                    <a:pt x="7017638" y="9543796"/>
                    <a:pt x="6909308" y="9543796"/>
                  </a:cubicBezTo>
                  <a:lnTo>
                    <a:pt x="196088" y="9543796"/>
                  </a:lnTo>
                  <a:cubicBezTo>
                    <a:pt x="87757" y="9543669"/>
                    <a:pt x="0" y="9455912"/>
                    <a:pt x="0" y="934758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35943" y="2456183"/>
            <a:ext cx="5328923" cy="939803"/>
            <a:chOff x="0" y="0"/>
            <a:chExt cx="7105231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560320"/>
            <a:ext cx="4846320" cy="731520"/>
            <a:chOff x="0" y="0"/>
            <a:chExt cx="646176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61760" cy="975360"/>
            </a:xfrm>
            <a:custGeom>
              <a:avLst/>
              <a:gdLst/>
              <a:ahLst/>
              <a:cxnLst/>
              <a:rect r="r" b="b" t="t" l="l"/>
              <a:pathLst>
                <a:path h="9753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61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SENSING THE SPACE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7824" y="3566160"/>
            <a:ext cx="4754880" cy="914400"/>
            <a:chOff x="0" y="0"/>
            <a:chExt cx="633984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 Sensor per parking space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6607" y="4510783"/>
            <a:ext cx="4767577" cy="12697"/>
            <a:chOff x="0" y="0"/>
            <a:chExt cx="6356769" cy="16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77824" y="4590288"/>
            <a:ext cx="4754880" cy="914400"/>
            <a:chOff x="0" y="0"/>
            <a:chExt cx="633984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One camera per lot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6607" y="5534911"/>
            <a:ext cx="4767577" cy="12697"/>
            <a:chOff x="0" y="0"/>
            <a:chExt cx="6356769" cy="169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77824" y="5614416"/>
            <a:ext cx="4754880" cy="914400"/>
            <a:chOff x="0" y="0"/>
            <a:chExt cx="633984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 Count cars at the entrance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6607" y="6559039"/>
            <a:ext cx="4767577" cy="12697"/>
            <a:chOff x="0" y="0"/>
            <a:chExt cx="6356769" cy="169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77824" y="6638544"/>
            <a:ext cx="4754880" cy="914400"/>
            <a:chOff x="0" y="0"/>
            <a:chExt cx="633984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 Crowdsource reports from drivers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6607" y="7583167"/>
            <a:ext cx="4767577" cy="12697"/>
            <a:chOff x="0" y="0"/>
            <a:chExt cx="6356769" cy="169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77824" y="7662672"/>
            <a:ext cx="4754880" cy="914400"/>
            <a:chOff x="0" y="0"/>
            <a:chExt cx="633984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 Loop detectors in the ground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79543" y="2456183"/>
            <a:ext cx="5328923" cy="7157723"/>
            <a:chOff x="0" y="0"/>
            <a:chExt cx="7105231" cy="95436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05396" cy="9543796"/>
            </a:xfrm>
            <a:custGeom>
              <a:avLst/>
              <a:gdLst/>
              <a:ahLst/>
              <a:cxnLst/>
              <a:rect r="r" b="b" t="t" l="l"/>
              <a:pathLst>
                <a:path h="9543796" w="710539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6909308" y="0"/>
                  </a:lnTo>
                  <a:cubicBezTo>
                    <a:pt x="7017512" y="0"/>
                    <a:pt x="7105396" y="87757"/>
                    <a:pt x="7105396" y="196088"/>
                  </a:cubicBezTo>
                  <a:lnTo>
                    <a:pt x="7105396" y="9347708"/>
                  </a:lnTo>
                  <a:cubicBezTo>
                    <a:pt x="7105396" y="9455912"/>
                    <a:pt x="7017638" y="9543796"/>
                    <a:pt x="6909308" y="9543796"/>
                  </a:cubicBezTo>
                  <a:lnTo>
                    <a:pt x="196088" y="9543796"/>
                  </a:lnTo>
                  <a:cubicBezTo>
                    <a:pt x="87757" y="9543669"/>
                    <a:pt x="0" y="9455912"/>
                    <a:pt x="0" y="934758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479543" y="2456183"/>
            <a:ext cx="5328923" cy="939803"/>
            <a:chOff x="0" y="0"/>
            <a:chExt cx="7105231" cy="12530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766560" y="2560320"/>
            <a:ext cx="4846320" cy="731520"/>
            <a:chOff x="0" y="0"/>
            <a:chExt cx="646176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61760" cy="975360"/>
            </a:xfrm>
            <a:custGeom>
              <a:avLst/>
              <a:gdLst/>
              <a:ahLst/>
              <a:cxnLst/>
              <a:rect r="r" b="b" t="t" l="l"/>
              <a:pathLst>
                <a:path h="9753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461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INFORMING THE USER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21424" y="3566160"/>
            <a:ext cx="4754880" cy="914400"/>
            <a:chOff x="0" y="0"/>
            <a:chExt cx="633984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 Website to check before leaving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60207" y="4510783"/>
            <a:ext cx="4767577" cy="12697"/>
            <a:chOff x="0" y="0"/>
            <a:chExt cx="6356769" cy="1692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6821424" y="4590288"/>
            <a:ext cx="4754880" cy="914400"/>
            <a:chOff x="0" y="0"/>
            <a:chExt cx="633984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Mobile app with push alerts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60207" y="5534911"/>
            <a:ext cx="4767577" cy="12697"/>
            <a:chOff x="0" y="0"/>
            <a:chExt cx="6356769" cy="1692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821424" y="5614416"/>
            <a:ext cx="4754880" cy="914400"/>
            <a:chOff x="0" y="0"/>
            <a:chExt cx="633984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 Digital sign at lot entrance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760207" y="6559039"/>
            <a:ext cx="4767577" cy="12697"/>
            <a:chOff x="0" y="0"/>
            <a:chExt cx="6356769" cy="1692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6821424" y="6638544"/>
            <a:ext cx="4754880" cy="914400"/>
            <a:chOff x="0" y="0"/>
            <a:chExt cx="633984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 LED light above each space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760207" y="7583167"/>
            <a:ext cx="4767577" cy="12697"/>
            <a:chOff x="0" y="0"/>
            <a:chExt cx="6356769" cy="169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6821424" y="7662672"/>
            <a:ext cx="4754880" cy="914400"/>
            <a:chOff x="0" y="0"/>
            <a:chExt cx="633984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 Integration into maps / Waze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423143" y="2456183"/>
            <a:ext cx="5328923" cy="7157723"/>
            <a:chOff x="0" y="0"/>
            <a:chExt cx="7105231" cy="954363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05396" cy="9543796"/>
            </a:xfrm>
            <a:custGeom>
              <a:avLst/>
              <a:gdLst/>
              <a:ahLst/>
              <a:cxnLst/>
              <a:rect r="r" b="b" t="t" l="l"/>
              <a:pathLst>
                <a:path h="9543796" w="7105396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6909308" y="0"/>
                  </a:lnTo>
                  <a:cubicBezTo>
                    <a:pt x="7017512" y="0"/>
                    <a:pt x="7105396" y="87757"/>
                    <a:pt x="7105396" y="196088"/>
                  </a:cubicBezTo>
                  <a:lnTo>
                    <a:pt x="7105396" y="9347708"/>
                  </a:lnTo>
                  <a:cubicBezTo>
                    <a:pt x="7105396" y="9455912"/>
                    <a:pt x="7017638" y="9543796"/>
                    <a:pt x="6909308" y="9543796"/>
                  </a:cubicBezTo>
                  <a:lnTo>
                    <a:pt x="196088" y="9543796"/>
                  </a:lnTo>
                  <a:cubicBezTo>
                    <a:pt x="87757" y="9543669"/>
                    <a:pt x="0" y="9455912"/>
                    <a:pt x="0" y="934758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423143" y="2456183"/>
            <a:ext cx="5328923" cy="939803"/>
            <a:chOff x="0" y="0"/>
            <a:chExt cx="7105231" cy="125307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10526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710160" y="2560320"/>
            <a:ext cx="4846320" cy="731520"/>
            <a:chOff x="0" y="0"/>
            <a:chExt cx="6461760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61760" cy="975360"/>
            </a:xfrm>
            <a:custGeom>
              <a:avLst/>
              <a:gdLst/>
              <a:ahLst/>
              <a:cxnLst/>
              <a:rect r="r" b="b" t="t" l="l"/>
              <a:pathLst>
                <a:path h="9753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461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IDENTIFYING THE CAR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765024" y="3566160"/>
            <a:ext cx="4754880" cy="914400"/>
            <a:chOff x="0" y="0"/>
            <a:chExt cx="6339840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 Camera reads number plate automatically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703807" y="4510783"/>
            <a:ext cx="4767577" cy="12697"/>
            <a:chOff x="0" y="0"/>
            <a:chExt cx="6356769" cy="1692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2765024" y="4590288"/>
            <a:ext cx="4754880" cy="914400"/>
            <a:chOff x="0" y="0"/>
            <a:chExt cx="6339840" cy="12192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Wits card tap at the gate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703807" y="5534911"/>
            <a:ext cx="4767577" cy="12697"/>
            <a:chOff x="0" y="0"/>
            <a:chExt cx="6356769" cy="1692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765024" y="5614416"/>
            <a:ext cx="4754880" cy="914400"/>
            <a:chOff x="0" y="0"/>
            <a:chExt cx="6339840" cy="1219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 QR code on windscreen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703807" y="6559039"/>
            <a:ext cx="4767577" cy="12697"/>
            <a:chOff x="0" y="0"/>
            <a:chExt cx="6356769" cy="1692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2765024" y="6638544"/>
            <a:ext cx="4754880" cy="914400"/>
            <a:chOff x="0" y="0"/>
            <a:chExt cx="633984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 Bluetooth beacon in vehicle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703807" y="7583167"/>
            <a:ext cx="4767577" cy="12697"/>
            <a:chOff x="0" y="0"/>
            <a:chExt cx="6356769" cy="1692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356731" cy="16891"/>
            </a:xfrm>
            <a:custGeom>
              <a:avLst/>
              <a:gdLst/>
              <a:ahLst/>
              <a:cxnLst/>
              <a:rect r="r" b="b" t="t" l="l"/>
              <a:pathLst>
                <a:path h="16891" w="6356731">
                  <a:moveTo>
                    <a:pt x="0" y="0"/>
                  </a:moveTo>
                  <a:lnTo>
                    <a:pt x="635673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282898" r="0" b="-7283123"/>
              </a:stretch>
            </a:blipFill>
            <a:ln w="127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2765024" y="7662672"/>
            <a:ext cx="4754880" cy="914400"/>
            <a:chOff x="0" y="0"/>
            <a:chExt cx="6339840" cy="1219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0"/>
              <a:ext cx="633984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 No ID needed — anonymous sensing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06549"/>
            </a:xfrm>
            <a:custGeom>
              <a:avLst/>
              <a:gdLst/>
              <a:ahLst/>
              <a:cxnLst/>
              <a:rect r="r" b="b" t="t" l="l"/>
              <a:pathLst>
                <a:path h="21065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1C1C1C"/>
            </a:solidFill>
            <a:ln w="25400" cap="sq">
              <a:solidFill>
                <a:srgbClr val="1C1C1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9456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CONVERGING ON A DIRECTION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64592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Filtering ideas against what the problem space taught us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3" y="2456183"/>
            <a:ext cx="16850363" cy="2128523"/>
            <a:chOff x="0" y="0"/>
            <a:chExt cx="22467151" cy="28380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67190" cy="2838069"/>
            </a:xfrm>
            <a:custGeom>
              <a:avLst/>
              <a:gdLst/>
              <a:ahLst/>
              <a:cxnLst/>
              <a:rect r="r" b="b" t="t" l="l"/>
              <a:pathLst>
                <a:path h="2838069" w="2246719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22269704" y="0"/>
                  </a:lnTo>
                  <a:cubicBezTo>
                    <a:pt x="22378797" y="0"/>
                    <a:pt x="22467190" y="88392"/>
                    <a:pt x="22467190" y="197485"/>
                  </a:cubicBezTo>
                  <a:lnTo>
                    <a:pt x="22467190" y="2640584"/>
                  </a:lnTo>
                  <a:cubicBezTo>
                    <a:pt x="22467190" y="2749677"/>
                    <a:pt x="22378797" y="2838069"/>
                    <a:pt x="2226970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1C1C1C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" y="2706624"/>
            <a:ext cx="15910560" cy="1005840"/>
            <a:chOff x="0" y="0"/>
            <a:chExt cx="21214080" cy="1341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40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217" r="0" b="-2582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12140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 must work before the user gets in their car.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8720" y="3803904"/>
            <a:ext cx="15910560" cy="548640"/>
            <a:chOff x="0" y="0"/>
            <a:chExt cx="212140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1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66" r="0" b="-5150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214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design principle is derived directly from interview findings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8823" y="4925063"/>
            <a:ext cx="5511803" cy="4688843"/>
            <a:chOff x="0" y="0"/>
            <a:chExt cx="7349071" cy="62517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6251702"/>
            </a:xfrm>
            <a:custGeom>
              <a:avLst/>
              <a:gdLst/>
              <a:ahLst/>
              <a:cxnLst/>
              <a:rect r="r" b="b" t="t" l="l"/>
              <a:pathLst>
                <a:path h="6251702" w="7348982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7152894" y="0"/>
                  </a:lnTo>
                  <a:cubicBezTo>
                    <a:pt x="7261225" y="0"/>
                    <a:pt x="7348982" y="87757"/>
                    <a:pt x="7348982" y="196088"/>
                  </a:cubicBezTo>
                  <a:lnTo>
                    <a:pt x="7348982" y="6055614"/>
                  </a:lnTo>
                  <a:cubicBezTo>
                    <a:pt x="7348982" y="6163945"/>
                    <a:pt x="7261225" y="6251702"/>
                    <a:pt x="7152894" y="6251702"/>
                  </a:cubicBezTo>
                  <a:lnTo>
                    <a:pt x="196088" y="6251702"/>
                  </a:lnTo>
                  <a:cubicBezTo>
                    <a:pt x="87757" y="6251829"/>
                    <a:pt x="0" y="6163945"/>
                    <a:pt x="0" y="6055614"/>
                  </a:cubicBezTo>
                  <a:close/>
                </a:path>
              </a:pathLst>
            </a:custGeom>
            <a:solidFill>
              <a:srgbClr val="191919"/>
            </a:solidFill>
            <a:ln w="25400" cap="sq">
              <a:solidFill>
                <a:srgbClr val="2A2A2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60704" y="5157216"/>
            <a:ext cx="4846320" cy="512064"/>
            <a:chOff x="0" y="0"/>
            <a:chExt cx="64617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USABILITY FILTER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60704" y="5760720"/>
            <a:ext cx="4846320" cy="1005840"/>
            <a:chOff x="0" y="0"/>
            <a:chExt cx="646176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61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646176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Information before departure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54351" y="6869935"/>
            <a:ext cx="4859017" cy="12697"/>
            <a:chOff x="0" y="0"/>
            <a:chExt cx="6478689" cy="169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78651" cy="16891"/>
            </a:xfrm>
            <a:custGeom>
              <a:avLst/>
              <a:gdLst/>
              <a:ahLst/>
              <a:cxnLst/>
              <a:rect r="r" b="b" t="t" l="l"/>
              <a:pathLst>
                <a:path h="16891" w="6478651">
                  <a:moveTo>
                    <a:pt x="0" y="0"/>
                  </a:moveTo>
                  <a:lnTo>
                    <a:pt x="647865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423541" r="0" b="-7423767"/>
              </a:stretch>
            </a:blipFill>
            <a:ln w="127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60704" y="7022592"/>
            <a:ext cx="4846320" cy="1371600"/>
            <a:chOff x="0" y="0"/>
            <a:chExt cx="646176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61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6461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LEDs · in-lot displays, too late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698999" y="4925063"/>
            <a:ext cx="5511803" cy="4688843"/>
            <a:chOff x="0" y="0"/>
            <a:chExt cx="7349071" cy="62517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48982" cy="6251702"/>
            </a:xfrm>
            <a:custGeom>
              <a:avLst/>
              <a:gdLst/>
              <a:ahLst/>
              <a:cxnLst/>
              <a:rect r="r" b="b" t="t" l="l"/>
              <a:pathLst>
                <a:path h="6251702" w="7348982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7152894" y="0"/>
                  </a:lnTo>
                  <a:cubicBezTo>
                    <a:pt x="7261225" y="0"/>
                    <a:pt x="7348982" y="87757"/>
                    <a:pt x="7348982" y="196088"/>
                  </a:cubicBezTo>
                  <a:lnTo>
                    <a:pt x="7348982" y="6055614"/>
                  </a:lnTo>
                  <a:cubicBezTo>
                    <a:pt x="7348982" y="6163945"/>
                    <a:pt x="7261225" y="6251702"/>
                    <a:pt x="7152894" y="6251702"/>
                  </a:cubicBezTo>
                  <a:lnTo>
                    <a:pt x="196088" y="6251702"/>
                  </a:lnTo>
                  <a:cubicBezTo>
                    <a:pt x="87757" y="6251829"/>
                    <a:pt x="0" y="6163945"/>
                    <a:pt x="0" y="6055614"/>
                  </a:cubicBezTo>
                  <a:close/>
                </a:path>
              </a:pathLst>
            </a:custGeom>
            <a:solidFill>
              <a:srgbClr val="191919"/>
            </a:solidFill>
            <a:ln w="25400" cap="sq">
              <a:solidFill>
                <a:srgbClr val="2A2A2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040880" y="5157216"/>
            <a:ext cx="4846320" cy="512064"/>
            <a:chOff x="0" y="0"/>
            <a:chExt cx="646176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FRICTION FILTER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040880" y="5760720"/>
            <a:ext cx="4846320" cy="1005840"/>
            <a:chOff x="0" y="0"/>
            <a:chExt cx="646176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61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23825"/>
              <a:ext cx="646176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Passive &amp; automatic sensing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034527" y="6869935"/>
            <a:ext cx="4859017" cy="12697"/>
            <a:chOff x="0" y="0"/>
            <a:chExt cx="6478689" cy="169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78651" cy="16891"/>
            </a:xfrm>
            <a:custGeom>
              <a:avLst/>
              <a:gdLst/>
              <a:ahLst/>
              <a:cxnLst/>
              <a:rect r="r" b="b" t="t" l="l"/>
              <a:pathLst>
                <a:path h="16891" w="6478651">
                  <a:moveTo>
                    <a:pt x="0" y="0"/>
                  </a:moveTo>
                  <a:lnTo>
                    <a:pt x="647865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423541" r="0" b="-7423767"/>
              </a:stretch>
            </a:blipFill>
            <a:ln w="127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040880" y="7022592"/>
            <a:ext cx="4846320" cy="1371600"/>
            <a:chOff x="0" y="0"/>
            <a:chExt cx="646176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61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6461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Pre-registration · QR codes · card taps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679175" y="4925063"/>
            <a:ext cx="5511803" cy="4688843"/>
            <a:chOff x="0" y="0"/>
            <a:chExt cx="7349071" cy="62517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48982" cy="6251702"/>
            </a:xfrm>
            <a:custGeom>
              <a:avLst/>
              <a:gdLst/>
              <a:ahLst/>
              <a:cxnLst/>
              <a:rect r="r" b="b" t="t" l="l"/>
              <a:pathLst>
                <a:path h="6251702" w="7348982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7152894" y="0"/>
                  </a:lnTo>
                  <a:cubicBezTo>
                    <a:pt x="7261225" y="0"/>
                    <a:pt x="7348982" y="87757"/>
                    <a:pt x="7348982" y="196088"/>
                  </a:cubicBezTo>
                  <a:lnTo>
                    <a:pt x="7348982" y="6055614"/>
                  </a:lnTo>
                  <a:cubicBezTo>
                    <a:pt x="7348982" y="6163945"/>
                    <a:pt x="7261225" y="6251702"/>
                    <a:pt x="7152894" y="6251702"/>
                  </a:cubicBezTo>
                  <a:lnTo>
                    <a:pt x="196088" y="6251702"/>
                  </a:lnTo>
                  <a:cubicBezTo>
                    <a:pt x="87757" y="6251829"/>
                    <a:pt x="0" y="6163945"/>
                    <a:pt x="0" y="6055614"/>
                  </a:cubicBezTo>
                  <a:close/>
                </a:path>
              </a:pathLst>
            </a:custGeom>
            <a:solidFill>
              <a:srgbClr val="191919"/>
            </a:solidFill>
            <a:ln w="25400" cap="sq">
              <a:solidFill>
                <a:srgbClr val="2A2A2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021056" y="5157216"/>
            <a:ext cx="4846320" cy="512064"/>
            <a:chOff x="0" y="0"/>
            <a:chExt cx="646176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REACH FILTER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021056" y="5760720"/>
            <a:ext cx="4846320" cy="1005840"/>
            <a:chOff x="0" y="0"/>
            <a:chExt cx="646176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617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23825"/>
              <a:ext cx="646176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Website: no install, any device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014703" y="6869935"/>
            <a:ext cx="4859017" cy="12697"/>
            <a:chOff x="0" y="0"/>
            <a:chExt cx="6478689" cy="1692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78651" cy="16891"/>
            </a:xfrm>
            <a:custGeom>
              <a:avLst/>
              <a:gdLst/>
              <a:ahLst/>
              <a:cxnLst/>
              <a:rect r="r" b="b" t="t" l="l"/>
              <a:pathLst>
                <a:path h="16891" w="6478651">
                  <a:moveTo>
                    <a:pt x="0" y="0"/>
                  </a:moveTo>
                  <a:lnTo>
                    <a:pt x="6478651" y="168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423541" r="0" b="-7423767"/>
              </a:stretch>
            </a:blipFill>
            <a:ln w="127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021056" y="7022592"/>
            <a:ext cx="4846320" cy="1371600"/>
            <a:chOff x="0" y="0"/>
            <a:chExt cx="6461760" cy="1828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61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04775"/>
              <a:ext cx="646176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App: install barrier, excludes some users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80000">
            <a:off x="13154663" y="-74421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1006709"/>
                  </a:lnTo>
                  <a:lnTo>
                    <a:pt x="0" y="11006709"/>
                  </a:lnTo>
                  <a:close/>
                </a:path>
              </a:pathLst>
            </a:custGeom>
            <a:solidFill>
              <a:srgbClr val="2B2B2B">
                <a:alpha val="3568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600000">
            <a:off x="14983463" y="4559303"/>
            <a:ext cx="5877563" cy="5877563"/>
            <a:chOff x="0" y="0"/>
            <a:chExt cx="7836751" cy="78367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36789" cy="7836789"/>
            </a:xfrm>
            <a:custGeom>
              <a:avLst/>
              <a:gdLst/>
              <a:ahLst/>
              <a:cxnLst/>
              <a:rect r="r" b="b" t="t" l="l"/>
              <a:pathLst>
                <a:path h="7836789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7836789"/>
                  </a:lnTo>
                  <a:lnTo>
                    <a:pt x="0" y="7836789"/>
                  </a:lnTo>
                  <a:close/>
                </a:path>
              </a:pathLst>
            </a:custGeom>
            <a:solidFill>
              <a:srgbClr val="5A5A5A">
                <a:alpha val="1568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926080"/>
            <a:ext cx="11887200" cy="3291840"/>
            <a:chOff x="0" y="0"/>
            <a:chExt cx="15849600" cy="4389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49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71450"/>
              <a:ext cx="15849600" cy="456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6400800"/>
            <a:ext cx="10972800" cy="1280160"/>
            <a:chOff x="0" y="0"/>
            <a:chExt cx="146304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6304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Recommended Path Forward — Next Steps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974843" cy="10312403"/>
            <a:chOff x="0" y="0"/>
            <a:chExt cx="9299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365760"/>
            <a:ext cx="6400800" cy="1280160"/>
            <a:chOff x="0" y="0"/>
            <a:chExt cx="853440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— Conclusion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5760" y="1531620"/>
            <a:ext cx="6035040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85383" y="535943"/>
            <a:ext cx="10266683" cy="1525019"/>
            <a:chOff x="0" y="0"/>
            <a:chExt cx="13688911" cy="2033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88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3688949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13540105" y="0"/>
                  </a:lnTo>
                  <a:cubicBezTo>
                    <a:pt x="13622274" y="0"/>
                    <a:pt x="13688949" y="66548"/>
                    <a:pt x="13688949" y="148844"/>
                  </a:cubicBezTo>
                  <a:lnTo>
                    <a:pt x="13688949" y="1884553"/>
                  </a:lnTo>
                  <a:cubicBezTo>
                    <a:pt x="13688949" y="1966722"/>
                    <a:pt x="13622401" y="2033397"/>
                    <a:pt x="13540105" y="2033397"/>
                  </a:cubicBezTo>
                  <a:lnTo>
                    <a:pt x="148844" y="2033397"/>
                  </a:lnTo>
                  <a:cubicBezTo>
                    <a:pt x="66548" y="2033397"/>
                    <a:pt x="0" y="1966722"/>
                    <a:pt x="0" y="18845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717536" y="713232"/>
            <a:ext cx="9509760" cy="457200"/>
            <a:chOff x="0" y="0"/>
            <a:chExt cx="1267968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SOLUTIONS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717536" y="1170432"/>
            <a:ext cx="9509760" cy="731520"/>
            <a:chOff x="0" y="0"/>
            <a:chExt cx="1267968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Surveyed 8 detection methods — magnetometers won on accuracy &amp; weatherproofing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85383" y="2291591"/>
            <a:ext cx="10266683" cy="1525019"/>
            <a:chOff x="0" y="0"/>
            <a:chExt cx="13688911" cy="20333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88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3688949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13540105" y="0"/>
                  </a:lnTo>
                  <a:cubicBezTo>
                    <a:pt x="13622274" y="0"/>
                    <a:pt x="13688949" y="66548"/>
                    <a:pt x="13688949" y="148844"/>
                  </a:cubicBezTo>
                  <a:lnTo>
                    <a:pt x="13688949" y="1884553"/>
                  </a:lnTo>
                  <a:cubicBezTo>
                    <a:pt x="13688949" y="1966722"/>
                    <a:pt x="13622401" y="2033397"/>
                    <a:pt x="13540105" y="2033397"/>
                  </a:cubicBezTo>
                  <a:lnTo>
                    <a:pt x="148844" y="2033397"/>
                  </a:lnTo>
                  <a:cubicBezTo>
                    <a:pt x="66548" y="2033397"/>
                    <a:pt x="0" y="1966722"/>
                    <a:pt x="0" y="18845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717536" y="2468880"/>
            <a:ext cx="9509760" cy="457200"/>
            <a:chOff x="0" y="0"/>
            <a:chExt cx="1267968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SPACE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17536" y="2926080"/>
            <a:ext cx="9509760" cy="731520"/>
            <a:chOff x="0" y="0"/>
            <a:chExt cx="1267968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Interviews showed parking is unpredictable — decisions must happen before driving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85383" y="4047239"/>
            <a:ext cx="10266683" cy="1525019"/>
            <a:chOff x="0" y="0"/>
            <a:chExt cx="13688911" cy="20333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88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3688949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13540105" y="0"/>
                  </a:lnTo>
                  <a:cubicBezTo>
                    <a:pt x="13622274" y="0"/>
                    <a:pt x="13688949" y="66548"/>
                    <a:pt x="13688949" y="148844"/>
                  </a:cubicBezTo>
                  <a:lnTo>
                    <a:pt x="13688949" y="1884553"/>
                  </a:lnTo>
                  <a:cubicBezTo>
                    <a:pt x="13688949" y="1966722"/>
                    <a:pt x="13622401" y="2033397"/>
                    <a:pt x="13540105" y="2033397"/>
                  </a:cubicBezTo>
                  <a:lnTo>
                    <a:pt x="148844" y="2033397"/>
                  </a:lnTo>
                  <a:cubicBezTo>
                    <a:pt x="66548" y="2033397"/>
                    <a:pt x="0" y="1966722"/>
                    <a:pt x="0" y="18845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717536" y="4224528"/>
            <a:ext cx="9509760" cy="457200"/>
            <a:chOff x="0" y="0"/>
            <a:chExt cx="1267968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 SPACE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17536" y="4681728"/>
            <a:ext cx="9509760" cy="731520"/>
            <a:chOff x="0" y="0"/>
            <a:chExt cx="1267968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HMW questions → ideation → converged on passive, pre-departure information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85383" y="5802887"/>
            <a:ext cx="10266683" cy="1525019"/>
            <a:chOff x="0" y="0"/>
            <a:chExt cx="13688911" cy="20333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688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3688949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13540105" y="0"/>
                  </a:lnTo>
                  <a:cubicBezTo>
                    <a:pt x="13622274" y="0"/>
                    <a:pt x="13688949" y="66548"/>
                    <a:pt x="13688949" y="148844"/>
                  </a:cubicBezTo>
                  <a:lnTo>
                    <a:pt x="13688949" y="1884553"/>
                  </a:lnTo>
                  <a:cubicBezTo>
                    <a:pt x="13688949" y="1966722"/>
                    <a:pt x="13622401" y="2033397"/>
                    <a:pt x="13540105" y="2033397"/>
                  </a:cubicBezTo>
                  <a:lnTo>
                    <a:pt x="148844" y="2033397"/>
                  </a:lnTo>
                  <a:cubicBezTo>
                    <a:pt x="66548" y="2033397"/>
                    <a:pt x="0" y="1966722"/>
                    <a:pt x="0" y="18845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717536" y="5980176"/>
            <a:ext cx="9509760" cy="457200"/>
            <a:chOff x="0" y="0"/>
            <a:chExt cx="12679680" cy="609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RECOMMENDED DIRECTION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717536" y="6437376"/>
            <a:ext cx="9509760" cy="731520"/>
            <a:chOff x="0" y="0"/>
            <a:chExt cx="1267968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Magnetometer sensing + website — no install, no registration, no in-car action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45703" y="-12697"/>
            <a:ext cx="8255003" cy="10312403"/>
            <a:chOff x="0" y="0"/>
            <a:chExt cx="110066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C1C1C"/>
            </a:solidFill>
            <a:ln w="25400" cap="sq">
              <a:solidFill>
                <a:srgbClr val="1C1C1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900000">
            <a:off x="11325863" y="-561337"/>
            <a:ext cx="8255003" cy="8255003"/>
            <a:chOff x="0" y="0"/>
            <a:chExt cx="11006671" cy="110066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1006709"/>
                  </a:lnTo>
                  <a:lnTo>
                    <a:pt x="0" y="11006709"/>
                  </a:lnTo>
                  <a:close/>
                </a:path>
              </a:pathLst>
            </a:custGeom>
            <a:solidFill>
              <a:srgbClr val="2B2B2B">
                <a:alpha val="20000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560320"/>
            <a:ext cx="9144000" cy="2194560"/>
            <a:chOff x="0" y="0"/>
            <a:chExt cx="12192000" cy="2926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12192000" cy="3116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4937760"/>
            <a:ext cx="9144000" cy="1005840"/>
            <a:chOff x="0" y="0"/>
            <a:chExt cx="1219200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219200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961120"/>
            <a:ext cx="9144000" cy="731520"/>
            <a:chOff x="0" y="0"/>
            <a:chExt cx="121920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192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Parking Sensor — Wits  | 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DAHM_nB1dcY</dc:identifier>
  <dcterms:modified xsi:type="dcterms:W3CDTF">2011-08-01T06:04:30Z</dcterms:modified>
  <cp:revision>1</cp:revision>
  <dc:title>parking_sensor_presentation (1).pptx</dc:title>
</cp:coreProperties>
</file>

<file path=slide19_pretty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974843" cy="10312403"/>
            <a:chOff x="0" y="0"/>
            <a:chExt cx="9299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98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11111"/>
            </a:solidFill>
            <a:ln w="25400" cap="sq">
              <a:solidFill>
                <a:srgbClr val="11111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" y="365760"/>
            <a:ext cx="6400800" cy="1280160"/>
            <a:chOff x="0" y="0"/>
            <a:chExt cx="853440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— Conclusion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5760" y="1531620"/>
            <a:ext cx="6035040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OPEN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QUESTIONS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NEXT</a:t>
            </a:r>
          </a:p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85383" y="535943"/>
            <a:ext cx="10266683" cy="1525019"/>
            <a:chOff x="0" y="0"/>
            <a:chExt cx="13688911" cy="2033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88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3688949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13540105" y="0"/>
                  </a:lnTo>
                  <a:cubicBezTo>
                    <a:pt x="13622274" y="0"/>
                    <a:pt x="13688949" y="66548"/>
                    <a:pt x="13688949" y="148844"/>
                  </a:cubicBezTo>
                  <a:lnTo>
                    <a:pt x="13688949" y="1884553"/>
                  </a:lnTo>
                  <a:cubicBezTo>
                    <a:pt x="13688949" y="1966722"/>
                    <a:pt x="13622401" y="2033397"/>
                    <a:pt x="13540105" y="2033397"/>
                  </a:cubicBezTo>
                  <a:lnTo>
                    <a:pt x="148844" y="2033397"/>
                  </a:lnTo>
                  <a:cubicBezTo>
                    <a:pt x="66548" y="2033397"/>
                    <a:pt x="0" y="1966722"/>
                    <a:pt x="0" y="18845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717536" y="713232"/>
            <a:ext cx="9509760" cy="457200"/>
            <a:chOff x="0" y="0"/>
            <a:chExt cx="1267968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717536" y="1170432"/>
            <a:ext cx="9509760" cy="731520"/>
            <a:chOff x="0" y="0"/>
            <a:chExt cx="1267968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single-lot pilot with 3–5 magnetometer spaces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85383" y="2291591"/>
            <a:ext cx="10266683" cy="1525019"/>
            <a:chOff x="0" y="0"/>
            <a:chExt cx="13688911" cy="20333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88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3688949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13540105" y="0"/>
                  </a:lnTo>
                  <a:cubicBezTo>
                    <a:pt x="13622274" y="0"/>
                    <a:pt x="13688949" y="66548"/>
                    <a:pt x="13688949" y="148844"/>
                  </a:cubicBezTo>
                  <a:lnTo>
                    <a:pt x="13688949" y="1884553"/>
                  </a:lnTo>
                  <a:cubicBezTo>
                    <a:pt x="13688949" y="1966722"/>
                    <a:pt x="13622401" y="2033397"/>
                    <a:pt x="13540105" y="2033397"/>
                  </a:cubicBezTo>
                  <a:lnTo>
                    <a:pt x="148844" y="2033397"/>
                  </a:lnTo>
                  <a:cubicBezTo>
                    <a:pt x="66548" y="2033397"/>
                    <a:pt x="0" y="1966722"/>
                    <a:pt x="0" y="18845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717536" y="2468880"/>
            <a:ext cx="9509760" cy="457200"/>
            <a:chOff x="0" y="0"/>
            <a:chExt cx="1267968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SUPPLY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17536" y="2926080"/>
            <a:ext cx="9509760" cy="731520"/>
            <a:chOff x="0" y="0"/>
            <a:chExt cx="1267968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Wired vs. battery-powered per-space sensors tbd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85383" y="4047239"/>
            <a:ext cx="10266683" cy="1525019"/>
            <a:chOff x="0" y="0"/>
            <a:chExt cx="13688911" cy="20333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88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3688949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13540105" y="0"/>
                  </a:lnTo>
                  <a:cubicBezTo>
                    <a:pt x="13622274" y="0"/>
                    <a:pt x="13688949" y="66548"/>
                    <a:pt x="13688949" y="148844"/>
                  </a:cubicBezTo>
                  <a:lnTo>
                    <a:pt x="13688949" y="1884553"/>
                  </a:lnTo>
                  <a:cubicBezTo>
                    <a:pt x="13688949" y="1966722"/>
                    <a:pt x="13622401" y="2033397"/>
                    <a:pt x="13540105" y="2033397"/>
                  </a:cubicBezTo>
                  <a:lnTo>
                    <a:pt x="148844" y="2033397"/>
                  </a:lnTo>
                  <a:cubicBezTo>
                    <a:pt x="66548" y="2033397"/>
                    <a:pt x="0" y="1966722"/>
                    <a:pt x="0" y="18845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717536" y="4224528"/>
            <a:ext cx="9509760" cy="457200"/>
            <a:chOff x="0" y="0"/>
            <a:chExt cx="1267968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 ON CAMPUS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17536" y="4681728"/>
            <a:ext cx="9509760" cy="731520"/>
            <a:chOff x="0" y="0"/>
            <a:chExt cx="1267968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WiFi coverage at outdoor parking lots — confirm infrastructure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85383" y="5802887"/>
            <a:ext cx="10266683" cy="1525019"/>
            <a:chOff x="0" y="0"/>
            <a:chExt cx="13688911" cy="20333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6889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3688949">
                  <a:moveTo>
                    <a:pt x="0" y="148844"/>
                  </a:moveTo>
                  <a:cubicBezTo>
                    <a:pt x="0" y="66548"/>
                    <a:pt x="66548" y="0"/>
                    <a:pt x="148844" y="0"/>
                  </a:cubicBezTo>
                  <a:lnTo>
                    <a:pt x="13540105" y="0"/>
                  </a:lnTo>
                  <a:cubicBezTo>
                    <a:pt x="13622274" y="0"/>
                    <a:pt x="13688949" y="66548"/>
                    <a:pt x="13688949" y="148844"/>
                  </a:cubicBezTo>
                  <a:lnTo>
                    <a:pt x="13688949" y="1884553"/>
                  </a:lnTo>
                  <a:cubicBezTo>
                    <a:pt x="13688949" y="1966722"/>
                    <a:pt x="13622401" y="2033397"/>
                    <a:pt x="13540105" y="2033397"/>
                  </a:cubicBezTo>
                  <a:lnTo>
                    <a:pt x="148844" y="2033397"/>
                  </a:lnTo>
                  <a:cubicBezTo>
                    <a:pt x="66548" y="2033397"/>
                    <a:pt x="0" y="1966722"/>
                    <a:pt x="0" y="188455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DCD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717536" y="5980176"/>
            <a:ext cx="9509760" cy="457200"/>
            <a:chOff x="0" y="0"/>
            <a:chExt cx="12679680" cy="609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AAAA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CAMERA COMFORT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717536" y="6437376"/>
            <a:ext cx="9509760" cy="731520"/>
            <a:chOff x="0" y="0"/>
            <a:chExt cx="1267968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79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679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said yes to cameras — explore as supplement to sensors</a:t>
              </a:r>
            </a:p>
          </p:txBody>
        </p:sp>
      </p:grpSp>
    </p:spTree>
  </p:cSld>
  <p:clrMapOvr>
    <a:masterClrMapping/>
  </p:clrMapOvr>
</p:sld>
</file>